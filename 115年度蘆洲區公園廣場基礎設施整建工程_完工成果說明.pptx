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05c9bda1-7073-bfba-75e9-3e1028be2049}">
          <p14:sldIdLst>
            <p14:sldId id="256"/>
          </p14:sldIdLst>
        </p14:section>
        <p14:section name="工程概要" id="{5314e8f2-9407-f93e-89b8-83774888a992}">
          <p14:sldIdLst>
            <p14:sldId id="257"/>
          </p14:sldIdLst>
        </p14:section>
        <p14:section name="工區一 永安兒童公園" id="{34949e62-791a-b93e-695d-40c475ead990}">
          <p14:sldIdLst>
            <p14:sldId id="258"/>
            <p14:sldId id="259"/>
          </p14:sldIdLst>
        </p14:section>
        <p14:section name="工區二 兒一公園" id="{d5525942-ceb5-82c0-cd7b-f2711f0404cf}">
          <p14:sldIdLst>
            <p14:sldId id="260"/>
            <p14:sldId id="261"/>
          </p14:sldIdLst>
        </p14:section>
        <p14:section name="完工效益" id="{cee9b081-805f-a194-f620-0cdffdfb32b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ubble 1"/>
          <p:cNvSpPr/>
          <p:nvPr/>
        </p:nvSpPr>
        <p:spPr>
          <a:xfrm>
            <a:off x="6949440" y="-731520"/>
            <a:ext cx="2377440" cy="2377440"/>
          </a:xfrm>
          <a:prstGeom prst="ellipse">
            <a:avLst/>
          </a:prstGeom>
          <a:solidFill>
            <a:schemeClr val="accent2">
              <a:alpha val="80000"/>
            </a:schemeClr>
          </a:solidFill>
          <a:ln/>
        </p:spPr>
      </p:sp>
      <p:sp>
        <p:nvSpPr>
          <p:cNvPr id="3" name="bubble 2"/>
          <p:cNvSpPr/>
          <p:nvPr/>
        </p:nvSpPr>
        <p:spPr>
          <a:xfrm>
            <a:off x="6309360" y="5120640"/>
            <a:ext cx="1645920" cy="1645920"/>
          </a:xfrm>
          <a:prstGeom prst="ellipse">
            <a:avLst/>
          </a:prstGeom>
          <a:solidFill>
            <a:schemeClr val="accent3">
              <a:alpha val="80000"/>
            </a:schemeClr>
          </a:solidFill>
          <a:ln/>
        </p:spPr>
      </p:sp>
      <p:sp>
        <p:nvSpPr>
          <p:cNvPr id="4" name="photo frame"/>
          <p:cNvSpPr/>
          <p:nvPr/>
        </p:nvSpPr>
        <p:spPr>
          <a:xfrm>
            <a:off x="7498080" y="822960"/>
            <a:ext cx="4114800" cy="52120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50800" dir="5400000">
              <a:srgbClr val="A8D5A2">
                <a:alpha val="40000"/>
              </a:srgbClr>
            </a:outerShdw>
          </a:effectLst>
        </p:spPr>
      </p:sp>
      <p:pic>
        <p:nvPicPr>
          <p:cNvPr id="5" name="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005840"/>
            <a:ext cx="3749040" cy="4846320"/>
          </a:xfrm>
          <a:prstGeom prst="rect">
            <a:avLst/>
          </a:prstGeom>
        </p:spPr>
      </p:pic>
      <p:sp>
        <p:nvSpPr>
          <p:cNvPr id="6" name="bubble 1"/>
          <p:cNvSpPr/>
          <p:nvPr/>
        </p:nvSpPr>
        <p:spPr>
          <a:xfrm>
            <a:off x="-548640" y="-548640"/>
            <a:ext cx="1645920" cy="1645920"/>
          </a:xfrm>
          <a:prstGeom prst="ellipse">
            <a:avLst/>
          </a:prstGeom>
          <a:solidFill>
            <a:schemeClr val="accent1">
              <a:alpha val="70000"/>
            </a:schemeClr>
          </a:solidFill>
          <a:ln/>
        </p:spPr>
      </p:sp>
      <p:sp>
        <p:nvSpPr>
          <p:cNvPr id="7" name="bubble 2"/>
          <p:cNvSpPr/>
          <p:nvPr/>
        </p:nvSpPr>
        <p:spPr>
          <a:xfrm>
            <a:off x="5303520" y="5852160"/>
            <a:ext cx="1097280" cy="1097280"/>
          </a:xfrm>
          <a:prstGeom prst="ellipse">
            <a:avLst/>
          </a:prstGeom>
          <a:solidFill>
            <a:schemeClr val="accent5">
              <a:alpha val="70000"/>
            </a:schemeClr>
          </a:solidFill>
          <a:ln/>
        </p:spPr>
      </p:sp>
      <p:sp>
        <p:nvSpPr>
          <p:cNvPr id="8" name="kicker"/>
          <p:cNvSpPr txBox="1"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完工成果說明</a:t>
            </a:r>
            <a:endParaRPr lang="en-US" sz="18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115年度蘆洲區公園廣場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基礎設施整建工程</a:t>
            </a:r>
            <a:endParaRPr lang="en-US" sz="36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永安兒童公園、兒一公園及仁愛廣場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主辦機關｜新北市蘆洲區公所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工程概要</a:t>
            </a:r>
            <a:endParaRPr lang="en-US" sz="3200" dirty="0"/>
          </a:p>
        </p:txBody>
      </p:sp>
      <p:sp>
        <p:nvSpPr>
          <p:cNvPr id="3" name="工區一 card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3774"/>
            </a:avLst>
          </a:prstGeom>
          <a:solidFill>
            <a:schemeClr val="accent1">
              <a:alpha val="22000"/>
            </a:schemeClr>
          </a:solidFill>
          <a:ln/>
        </p:spPr>
      </p:sp>
      <p:pic>
        <p:nvPicPr>
          <p:cNvPr id="4" name="工區一 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00200"/>
            <a:ext cx="4892040" cy="2743200"/>
          </a:xfrm>
          <a:prstGeom prst="rect">
            <a:avLst/>
          </a:prstGeom>
        </p:spPr>
      </p:pic>
      <p:sp>
        <p:nvSpPr>
          <p:cNvPr id="5" name="工區一 pill"/>
          <p:cNvSpPr/>
          <p:nvPr/>
        </p:nvSpPr>
        <p:spPr>
          <a:xfrm>
            <a:off x="777240" y="4553712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工區一 tag"/>
          <p:cNvSpPr txBox="1"/>
          <p:nvPr/>
        </p:nvSpPr>
        <p:spPr>
          <a:xfrm>
            <a:off x="777240" y="4553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工區一</a:t>
            </a:r>
            <a:endParaRPr lang="en-US" sz="1400" dirty="0"/>
          </a:p>
        </p:txBody>
      </p:sp>
      <p:sp>
        <p:nvSpPr>
          <p:cNvPr id="7" name="工區一 name"/>
          <p:cNvSpPr txBox="1"/>
          <p:nvPr/>
        </p:nvSpPr>
        <p:spPr>
          <a:xfrm>
            <a:off x="1783080" y="4526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永安兒童公園</a:t>
            </a:r>
            <a:endParaRPr lang="en-US" sz="2200" dirty="0"/>
          </a:p>
        </p:txBody>
      </p:sp>
      <p:sp>
        <p:nvSpPr>
          <p:cNvPr id="8" name="工區一 items"/>
          <p:cNvSpPr txBox="1"/>
          <p:nvPr/>
        </p:nvSpPr>
        <p:spPr>
          <a:xfrm>
            <a:off x="777240" y="512064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排水改善、新設休憩廣場、拓寬人行步道、增設及更新體健設施、綠地整地鋪設草皮</a:t>
            </a:r>
            <a:endParaRPr lang="en-US" sz="1400" dirty="0"/>
          </a:p>
        </p:txBody>
      </p:sp>
      <p:sp>
        <p:nvSpPr>
          <p:cNvPr id="9" name="工區一 duration"/>
          <p:cNvSpPr txBox="1"/>
          <p:nvPr/>
        </p:nvSpPr>
        <p:spPr>
          <a:xfrm>
            <a:off x="777240" y="58064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工期 45 日曆天</a:t>
            </a:r>
            <a:endParaRPr lang="en-US" sz="1200" dirty="0"/>
          </a:p>
        </p:txBody>
      </p:sp>
      <p:sp>
        <p:nvSpPr>
          <p:cNvPr id="10" name="工區二 card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3774"/>
            </a:avLst>
          </a:prstGeom>
          <a:solidFill>
            <a:schemeClr val="accent3">
              <a:alpha val="22000"/>
            </a:schemeClr>
          </a:solidFill>
          <a:ln/>
        </p:spPr>
      </p:sp>
      <p:pic>
        <p:nvPicPr>
          <p:cNvPr id="11" name="工區二 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600200"/>
            <a:ext cx="4892040" cy="2743200"/>
          </a:xfrm>
          <a:prstGeom prst="rect">
            <a:avLst/>
          </a:prstGeom>
        </p:spPr>
      </p:pic>
      <p:sp>
        <p:nvSpPr>
          <p:cNvPr id="12" name="工區二 pill"/>
          <p:cNvSpPr/>
          <p:nvPr/>
        </p:nvSpPr>
        <p:spPr>
          <a:xfrm>
            <a:off x="6492240" y="4553712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工區二 tag"/>
          <p:cNvSpPr txBox="1"/>
          <p:nvPr/>
        </p:nvSpPr>
        <p:spPr>
          <a:xfrm>
            <a:off x="6492240" y="4553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工區二</a:t>
            </a:r>
            <a:endParaRPr lang="en-US" sz="1400" dirty="0"/>
          </a:p>
        </p:txBody>
      </p:sp>
      <p:sp>
        <p:nvSpPr>
          <p:cNvPr id="14" name="工區二 name"/>
          <p:cNvSpPr txBox="1"/>
          <p:nvPr/>
        </p:nvSpPr>
        <p:spPr>
          <a:xfrm>
            <a:off x="7498080" y="4526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兒一公園</a:t>
            </a:r>
            <a:endParaRPr lang="en-US" sz="2200" dirty="0"/>
          </a:p>
        </p:txBody>
      </p:sp>
      <p:sp>
        <p:nvSpPr>
          <p:cNvPr id="15" name="工區二 items"/>
          <p:cNvSpPr txBox="1"/>
          <p:nvPr/>
        </p:nvSpPr>
        <p:spPr>
          <a:xfrm>
            <a:off x="6492240" y="512064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排水改善、新設休憩廣場、增設人行步道、綠地整地鋪設草皮、新植喬木</a:t>
            </a:r>
            <a:endParaRPr lang="en-US" sz="1400" dirty="0"/>
          </a:p>
        </p:txBody>
      </p:sp>
      <p:sp>
        <p:nvSpPr>
          <p:cNvPr id="16" name="工區二 duration"/>
          <p:cNvSpPr txBox="1"/>
          <p:nvPr/>
        </p:nvSpPr>
        <p:spPr>
          <a:xfrm>
            <a:off x="6492240" y="58064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工期 45 日曆天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工區一 永安兒童公園｜完工成果</a:t>
            </a:r>
            <a:endParaRPr lang="en-US" sz="3200" dirty="0"/>
          </a:p>
        </p:txBody>
      </p:sp>
      <p:pic>
        <p:nvPicPr>
          <p:cNvPr id="3" name="aerial photo" descr="/tmp/claude-0/-home-user-WORK/17061699-df28-586b-9ead-2ea441853089/scratchpad/img/photo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922776"/>
          </a:xfrm>
          <a:prstGeom prst="rect">
            <a:avLst/>
          </a:prstGeom>
        </p:spPr>
      </p:pic>
      <p:sp>
        <p:nvSpPr>
          <p:cNvPr id="4" name="photo caption"/>
          <p:cNvSpPr txBox="1"/>
          <p:nvPr/>
        </p:nvSpPr>
        <p:spPr>
          <a:xfrm>
            <a:off x="548640" y="5394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完工空拍</a:t>
            </a:r>
            <a:endParaRPr lang="en-US" sz="1200" dirty="0"/>
          </a:p>
        </p:txBody>
      </p:sp>
      <p:sp>
        <p:nvSpPr>
          <p:cNvPr id="5" name="works card"/>
          <p:cNvSpPr/>
          <p:nvPr/>
        </p:nvSpPr>
        <p:spPr>
          <a:xfrm>
            <a:off x="7772400" y="1371600"/>
            <a:ext cx="3840480" cy="3922776"/>
          </a:xfrm>
          <a:prstGeom prst="roundRect">
            <a:avLst>
              <a:gd name="adj" fmla="val 4762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6" name="works header"/>
          <p:cNvSpPr txBox="1"/>
          <p:nvPr/>
        </p:nvSpPr>
        <p:spPr>
          <a:xfrm>
            <a:off x="8046720" y="1600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主要施作內容</a:t>
            </a:r>
            <a:endParaRPr lang="en-US" sz="2000" dirty="0"/>
          </a:p>
        </p:txBody>
      </p:sp>
      <p:sp>
        <p:nvSpPr>
          <p:cNvPr id="7" name="num circle 1"/>
          <p:cNvSpPr/>
          <p:nvPr/>
        </p:nvSpPr>
        <p:spPr>
          <a:xfrm>
            <a:off x="8046720" y="2103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num 1"/>
          <p:cNvSpPr txBox="1"/>
          <p:nvPr/>
        </p:nvSpPr>
        <p:spPr>
          <a:xfrm>
            <a:off x="8046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work 1"/>
          <p:cNvSpPr txBox="1"/>
          <p:nvPr/>
        </p:nvSpPr>
        <p:spPr>
          <a:xfrm>
            <a:off x="8641080" y="21031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排水改善</a:t>
            </a:r>
            <a:endParaRPr lang="en-US" sz="1500" dirty="0"/>
          </a:p>
        </p:txBody>
      </p:sp>
      <p:sp>
        <p:nvSpPr>
          <p:cNvPr id="10" name="num circle 2"/>
          <p:cNvSpPr/>
          <p:nvPr/>
        </p:nvSpPr>
        <p:spPr>
          <a:xfrm>
            <a:off x="8046720" y="2624328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num 2"/>
          <p:cNvSpPr txBox="1"/>
          <p:nvPr/>
        </p:nvSpPr>
        <p:spPr>
          <a:xfrm>
            <a:off x="8046720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work 2"/>
          <p:cNvSpPr txBox="1"/>
          <p:nvPr/>
        </p:nvSpPr>
        <p:spPr>
          <a:xfrm>
            <a:off x="8641080" y="2624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新設休憩廣場</a:t>
            </a:r>
            <a:endParaRPr lang="en-US" sz="1500" dirty="0"/>
          </a:p>
        </p:txBody>
      </p:sp>
      <p:sp>
        <p:nvSpPr>
          <p:cNvPr id="13" name="num circle 3"/>
          <p:cNvSpPr/>
          <p:nvPr/>
        </p:nvSpPr>
        <p:spPr>
          <a:xfrm>
            <a:off x="8046720" y="3145536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num 3"/>
          <p:cNvSpPr txBox="1"/>
          <p:nvPr/>
        </p:nvSpPr>
        <p:spPr>
          <a:xfrm>
            <a:off x="804672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work 3"/>
          <p:cNvSpPr txBox="1"/>
          <p:nvPr/>
        </p:nvSpPr>
        <p:spPr>
          <a:xfrm>
            <a:off x="8641080" y="314553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拓寬園內人行步道</a:t>
            </a:r>
            <a:endParaRPr lang="en-US" sz="1500" dirty="0"/>
          </a:p>
        </p:txBody>
      </p:sp>
      <p:sp>
        <p:nvSpPr>
          <p:cNvPr id="16" name="num circle 4"/>
          <p:cNvSpPr/>
          <p:nvPr/>
        </p:nvSpPr>
        <p:spPr>
          <a:xfrm>
            <a:off x="8046720" y="3666744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num 4"/>
          <p:cNvSpPr txBox="1"/>
          <p:nvPr/>
        </p:nvSpPr>
        <p:spPr>
          <a:xfrm>
            <a:off x="804672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work 4"/>
          <p:cNvSpPr txBox="1"/>
          <p:nvPr/>
        </p:nvSpPr>
        <p:spPr>
          <a:xfrm>
            <a:off x="8641080" y="366674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增設及更新體健設施</a:t>
            </a:r>
            <a:endParaRPr lang="en-US" sz="1500" dirty="0"/>
          </a:p>
        </p:txBody>
      </p:sp>
      <p:sp>
        <p:nvSpPr>
          <p:cNvPr id="19" name="num circle 5"/>
          <p:cNvSpPr/>
          <p:nvPr/>
        </p:nvSpPr>
        <p:spPr>
          <a:xfrm>
            <a:off x="8046720" y="4187952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num 5"/>
          <p:cNvSpPr txBox="1"/>
          <p:nvPr/>
        </p:nvSpPr>
        <p:spPr>
          <a:xfrm>
            <a:off x="8046720" y="4187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work 5"/>
          <p:cNvSpPr txBox="1"/>
          <p:nvPr/>
        </p:nvSpPr>
        <p:spPr>
          <a:xfrm>
            <a:off x="8641080" y="41879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既有綠地整地鋪設草皮</a:t>
            </a:r>
            <a:endParaRPr lang="en-US" sz="1500" dirty="0"/>
          </a:p>
        </p:txBody>
      </p:sp>
      <p:sp>
        <p:nvSpPr>
          <p:cNvPr id="22" name="num circle 6"/>
          <p:cNvSpPr/>
          <p:nvPr/>
        </p:nvSpPr>
        <p:spPr>
          <a:xfrm>
            <a:off x="8046720" y="4709160"/>
            <a:ext cx="420624" cy="42062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3" name="num 6"/>
          <p:cNvSpPr txBox="1"/>
          <p:nvPr/>
        </p:nvSpPr>
        <p:spPr>
          <a:xfrm>
            <a:off x="8046720" y="4709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4" name="work 6"/>
          <p:cNvSpPr txBox="1"/>
          <p:nvPr/>
        </p:nvSpPr>
        <p:spPr>
          <a:xfrm>
            <a:off x="8641080" y="470916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新設座椅、廁所外牆粉刷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工區一 永安兒童公園｜平面配置與施作數量</a:t>
            </a:r>
            <a:endParaRPr lang="en-US" sz="3200" dirty="0"/>
          </a:p>
        </p:txBody>
      </p:sp>
      <p:sp>
        <p:nvSpPr>
          <p:cNvPr id="3" name="plan frame"/>
          <p:cNvSpPr/>
          <p:nvPr/>
        </p:nvSpPr>
        <p:spPr>
          <a:xfrm>
            <a:off x="548640" y="1371600"/>
            <a:ext cx="7680960" cy="4846320"/>
          </a:xfrm>
          <a:prstGeom prst="roundRect">
            <a:avLst>
              <a:gd name="adj" fmla="val 283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plan caption"/>
          <p:cNvSpPr txBox="1"/>
          <p:nvPr/>
        </p:nvSpPr>
        <p:spPr>
          <a:xfrm>
            <a:off x="73152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平面配置圖（修正版）</a:t>
            </a:r>
            <a:endParaRPr lang="en-US" sz="1200" dirty="0"/>
          </a:p>
        </p:txBody>
      </p:sp>
      <p:pic>
        <p:nvPicPr>
          <p:cNvPr id="5" name="plan drawing" descr="/tmp/claude-0/-home-user-WORK/17061699-df28-586b-9ead-2ea441853089/scratchpad/img/rev-1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283" y="1828800"/>
            <a:ext cx="6917673" cy="4251960"/>
          </a:xfrm>
          <a:prstGeom prst="rect">
            <a:avLst/>
          </a:prstGeom>
        </p:spPr>
      </p:pic>
      <p:sp>
        <p:nvSpPr>
          <p:cNvPr id="6" name="stat card 1"/>
          <p:cNvSpPr/>
          <p:nvPr/>
        </p:nvSpPr>
        <p:spPr>
          <a:xfrm>
            <a:off x="8503920" y="1371600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7" name="stat value 1"/>
          <p:cNvSpPr txBox="1"/>
          <p:nvPr/>
        </p:nvSpPr>
        <p:spPr>
          <a:xfrm>
            <a:off x="8613648" y="149961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290.1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8" name="stat label 1"/>
          <p:cNvSpPr txBox="1"/>
          <p:nvPr/>
        </p:nvSpPr>
        <p:spPr>
          <a:xfrm>
            <a:off x="8613648" y="20482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混凝土鋪面</a:t>
            </a:r>
            <a:endParaRPr lang="en-US" sz="1200" dirty="0"/>
          </a:p>
        </p:txBody>
      </p:sp>
      <p:sp>
        <p:nvSpPr>
          <p:cNvPr id="9" name="stat card 2"/>
          <p:cNvSpPr/>
          <p:nvPr/>
        </p:nvSpPr>
        <p:spPr>
          <a:xfrm>
            <a:off x="10104120" y="1371600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2">
              <a:alpha val="35000"/>
            </a:schemeClr>
          </a:solidFill>
          <a:ln/>
        </p:spPr>
      </p:sp>
      <p:sp>
        <p:nvSpPr>
          <p:cNvPr id="10" name="stat value 2"/>
          <p:cNvSpPr txBox="1"/>
          <p:nvPr/>
        </p:nvSpPr>
        <p:spPr>
          <a:xfrm>
            <a:off x="10213848" y="149961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300.6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11" name="stat label 2"/>
          <p:cNvSpPr txBox="1"/>
          <p:nvPr/>
        </p:nvSpPr>
        <p:spPr>
          <a:xfrm>
            <a:off x="10213848" y="20482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鋪設地毯草</a:t>
            </a:r>
            <a:endParaRPr lang="en-US" sz="1200" dirty="0"/>
          </a:p>
        </p:txBody>
      </p:sp>
      <p:sp>
        <p:nvSpPr>
          <p:cNvPr id="12" name="stat card 3"/>
          <p:cNvSpPr/>
          <p:nvPr/>
        </p:nvSpPr>
        <p:spPr>
          <a:xfrm>
            <a:off x="8503920" y="2624328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3">
              <a:alpha val="35000"/>
            </a:schemeClr>
          </a:solidFill>
          <a:ln/>
        </p:spPr>
      </p:sp>
      <p:sp>
        <p:nvSpPr>
          <p:cNvPr id="13" name="stat value 3"/>
          <p:cNvSpPr txBox="1"/>
          <p:nvPr/>
        </p:nvSpPr>
        <p:spPr>
          <a:xfrm>
            <a:off x="8613648" y="275234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53.4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</a:t>
            </a:r>
            <a:endParaRPr lang="en-US" sz="2600" dirty="0"/>
          </a:p>
        </p:txBody>
      </p:sp>
      <p:sp>
        <p:nvSpPr>
          <p:cNvPr id="14" name="stat label 3"/>
          <p:cNvSpPr txBox="1"/>
          <p:nvPr/>
        </p:nvSpPr>
        <p:spPr>
          <a:xfrm>
            <a:off x="8613648" y="3300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混凝土排水溝</a:t>
            </a:r>
            <a:endParaRPr lang="en-US" sz="1200" dirty="0"/>
          </a:p>
        </p:txBody>
      </p:sp>
      <p:sp>
        <p:nvSpPr>
          <p:cNvPr id="15" name="stat card 4"/>
          <p:cNvSpPr/>
          <p:nvPr/>
        </p:nvSpPr>
        <p:spPr>
          <a:xfrm>
            <a:off x="10104120" y="2624328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4">
              <a:alpha val="35000"/>
            </a:schemeClr>
          </a:solidFill>
          <a:ln/>
        </p:spPr>
      </p:sp>
      <p:sp>
        <p:nvSpPr>
          <p:cNvPr id="16" name="stat value 4"/>
          <p:cNvSpPr txBox="1"/>
          <p:nvPr/>
        </p:nvSpPr>
        <p:spPr>
          <a:xfrm>
            <a:off x="10213848" y="275234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108.9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</a:t>
            </a:r>
            <a:endParaRPr lang="en-US" sz="2600" dirty="0"/>
          </a:p>
        </p:txBody>
      </p:sp>
      <p:sp>
        <p:nvSpPr>
          <p:cNvPr id="17" name="stat label 4"/>
          <p:cNvSpPr txBox="1"/>
          <p:nvPr/>
        </p:nvSpPr>
        <p:spPr>
          <a:xfrm>
            <a:off x="10213848" y="3300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HDPE透水網管</a:t>
            </a:r>
            <a:endParaRPr lang="en-US" sz="1200" dirty="0"/>
          </a:p>
        </p:txBody>
      </p:sp>
      <p:sp>
        <p:nvSpPr>
          <p:cNvPr id="18" name="stat card 5"/>
          <p:cNvSpPr/>
          <p:nvPr/>
        </p:nvSpPr>
        <p:spPr>
          <a:xfrm>
            <a:off x="8503920" y="3877056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5">
              <a:alpha val="35000"/>
            </a:schemeClr>
          </a:solidFill>
          <a:ln/>
        </p:spPr>
      </p:sp>
      <p:sp>
        <p:nvSpPr>
          <p:cNvPr id="19" name="stat value 5"/>
          <p:cNvSpPr txBox="1"/>
          <p:nvPr/>
        </p:nvSpPr>
        <p:spPr>
          <a:xfrm>
            <a:off x="8613648" y="40050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座</a:t>
            </a:r>
            <a:endParaRPr lang="en-US" sz="2600" dirty="0"/>
          </a:p>
        </p:txBody>
      </p:sp>
      <p:sp>
        <p:nvSpPr>
          <p:cNvPr id="20" name="stat label 5"/>
          <p:cNvSpPr txBox="1"/>
          <p:nvPr/>
        </p:nvSpPr>
        <p:spPr>
          <a:xfrm>
            <a:off x="8613648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預鑄陰井</a:t>
            </a:r>
            <a:endParaRPr lang="en-US" sz="1200" dirty="0"/>
          </a:p>
        </p:txBody>
      </p:sp>
      <p:sp>
        <p:nvSpPr>
          <p:cNvPr id="21" name="stat card 6"/>
          <p:cNvSpPr/>
          <p:nvPr/>
        </p:nvSpPr>
        <p:spPr>
          <a:xfrm>
            <a:off x="10104120" y="3877056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6">
              <a:alpha val="35000"/>
            </a:schemeClr>
          </a:solidFill>
          <a:ln/>
        </p:spPr>
      </p:sp>
      <p:sp>
        <p:nvSpPr>
          <p:cNvPr id="22" name="stat value 6"/>
          <p:cNvSpPr txBox="1"/>
          <p:nvPr/>
        </p:nvSpPr>
        <p:spPr>
          <a:xfrm>
            <a:off x="10213848" y="40050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7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組</a:t>
            </a:r>
            <a:endParaRPr lang="en-US" sz="2600" dirty="0"/>
          </a:p>
        </p:txBody>
      </p:sp>
      <p:sp>
        <p:nvSpPr>
          <p:cNvPr id="23" name="stat label 6"/>
          <p:cNvSpPr txBox="1"/>
          <p:nvPr/>
        </p:nvSpPr>
        <p:spPr>
          <a:xfrm>
            <a:off x="10213848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體健設施</a:t>
            </a:r>
            <a:endParaRPr lang="en-US" sz="1200" dirty="0"/>
          </a:p>
        </p:txBody>
      </p:sp>
      <p:sp>
        <p:nvSpPr>
          <p:cNvPr id="24" name="stat card 7"/>
          <p:cNvSpPr/>
          <p:nvPr/>
        </p:nvSpPr>
        <p:spPr>
          <a:xfrm>
            <a:off x="8503920" y="5129784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5" name="stat value 7"/>
          <p:cNvSpPr txBox="1"/>
          <p:nvPr/>
        </p:nvSpPr>
        <p:spPr>
          <a:xfrm>
            <a:off x="8613648" y="5257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座</a:t>
            </a:r>
            <a:endParaRPr lang="en-US" sz="2600" dirty="0"/>
          </a:p>
        </p:txBody>
      </p:sp>
      <p:sp>
        <p:nvSpPr>
          <p:cNvPr id="26" name="stat label 7"/>
          <p:cNvSpPr txBox="1"/>
          <p:nvPr/>
        </p:nvSpPr>
        <p:spPr>
          <a:xfrm>
            <a:off x="8613648" y="58064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塑木靠背座椅</a:t>
            </a:r>
            <a:endParaRPr lang="en-US" sz="1200" dirty="0"/>
          </a:p>
        </p:txBody>
      </p:sp>
      <p:sp>
        <p:nvSpPr>
          <p:cNvPr id="27" name="stat card 8"/>
          <p:cNvSpPr/>
          <p:nvPr/>
        </p:nvSpPr>
        <p:spPr>
          <a:xfrm>
            <a:off x="10104120" y="5129784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2">
              <a:alpha val="35000"/>
            </a:schemeClr>
          </a:solidFill>
          <a:ln/>
        </p:spPr>
      </p:sp>
      <p:sp>
        <p:nvSpPr>
          <p:cNvPr id="28" name="stat value 8"/>
          <p:cNvSpPr txBox="1"/>
          <p:nvPr/>
        </p:nvSpPr>
        <p:spPr>
          <a:xfrm>
            <a:off x="10213848" y="5257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48.5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29" name="stat label 8"/>
          <p:cNvSpPr txBox="1"/>
          <p:nvPr/>
        </p:nvSpPr>
        <p:spPr>
          <a:xfrm>
            <a:off x="10213848" y="58064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廁所外牆油漆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工區二 兒一公園｜完工成果</a:t>
            </a:r>
            <a:endParaRPr lang="en-US" sz="3200" dirty="0"/>
          </a:p>
        </p:txBody>
      </p:sp>
      <p:pic>
        <p:nvPicPr>
          <p:cNvPr id="3" name="aerial 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922776"/>
          </a:xfrm>
          <a:prstGeom prst="rect">
            <a:avLst/>
          </a:prstGeom>
        </p:spPr>
      </p:pic>
      <p:sp>
        <p:nvSpPr>
          <p:cNvPr id="4" name="photo caption"/>
          <p:cNvSpPr txBox="1"/>
          <p:nvPr/>
        </p:nvSpPr>
        <p:spPr>
          <a:xfrm>
            <a:off x="548640" y="5394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完工空拍</a:t>
            </a:r>
            <a:endParaRPr lang="en-US" sz="1200" dirty="0"/>
          </a:p>
        </p:txBody>
      </p:sp>
      <p:sp>
        <p:nvSpPr>
          <p:cNvPr id="5" name="works card"/>
          <p:cNvSpPr/>
          <p:nvPr/>
        </p:nvSpPr>
        <p:spPr>
          <a:xfrm>
            <a:off x="7772400" y="1371600"/>
            <a:ext cx="3840480" cy="3922776"/>
          </a:xfrm>
          <a:prstGeom prst="roundRect">
            <a:avLst>
              <a:gd name="adj" fmla="val 4762"/>
            </a:avLst>
          </a:prstGeom>
          <a:solidFill>
            <a:schemeClr val="accent3">
              <a:alpha val="20000"/>
            </a:schemeClr>
          </a:solidFill>
          <a:ln/>
        </p:spPr>
      </p:sp>
      <p:sp>
        <p:nvSpPr>
          <p:cNvPr id="6" name="works header"/>
          <p:cNvSpPr txBox="1"/>
          <p:nvPr/>
        </p:nvSpPr>
        <p:spPr>
          <a:xfrm>
            <a:off x="8046720" y="1600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主要施作內容</a:t>
            </a:r>
            <a:endParaRPr lang="en-US" sz="2000" dirty="0"/>
          </a:p>
        </p:txBody>
      </p:sp>
      <p:sp>
        <p:nvSpPr>
          <p:cNvPr id="7" name="num circle 1"/>
          <p:cNvSpPr/>
          <p:nvPr/>
        </p:nvSpPr>
        <p:spPr>
          <a:xfrm>
            <a:off x="8046720" y="2103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num 1"/>
          <p:cNvSpPr txBox="1"/>
          <p:nvPr/>
        </p:nvSpPr>
        <p:spPr>
          <a:xfrm>
            <a:off x="8046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work 1"/>
          <p:cNvSpPr txBox="1"/>
          <p:nvPr/>
        </p:nvSpPr>
        <p:spPr>
          <a:xfrm>
            <a:off x="8641080" y="21031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排水改善</a:t>
            </a:r>
            <a:endParaRPr lang="en-US" sz="1500" dirty="0"/>
          </a:p>
        </p:txBody>
      </p:sp>
      <p:sp>
        <p:nvSpPr>
          <p:cNvPr id="10" name="num circle 2"/>
          <p:cNvSpPr/>
          <p:nvPr/>
        </p:nvSpPr>
        <p:spPr>
          <a:xfrm>
            <a:off x="8046720" y="2624328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num 2"/>
          <p:cNvSpPr txBox="1"/>
          <p:nvPr/>
        </p:nvSpPr>
        <p:spPr>
          <a:xfrm>
            <a:off x="8046720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work 2"/>
          <p:cNvSpPr txBox="1"/>
          <p:nvPr/>
        </p:nvSpPr>
        <p:spPr>
          <a:xfrm>
            <a:off x="8641080" y="2624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新設休憩廣場</a:t>
            </a:r>
            <a:endParaRPr lang="en-US" sz="1500" dirty="0"/>
          </a:p>
        </p:txBody>
      </p:sp>
      <p:sp>
        <p:nvSpPr>
          <p:cNvPr id="13" name="num circle 3"/>
          <p:cNvSpPr/>
          <p:nvPr/>
        </p:nvSpPr>
        <p:spPr>
          <a:xfrm>
            <a:off x="8046720" y="3145536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num 3"/>
          <p:cNvSpPr txBox="1"/>
          <p:nvPr/>
        </p:nvSpPr>
        <p:spPr>
          <a:xfrm>
            <a:off x="804672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work 3"/>
          <p:cNvSpPr txBox="1"/>
          <p:nvPr/>
        </p:nvSpPr>
        <p:spPr>
          <a:xfrm>
            <a:off x="8641080" y="314553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增設園內人行步道</a:t>
            </a:r>
            <a:endParaRPr lang="en-US" sz="1500" dirty="0"/>
          </a:p>
        </p:txBody>
      </p:sp>
      <p:sp>
        <p:nvSpPr>
          <p:cNvPr id="16" name="num circle 4"/>
          <p:cNvSpPr/>
          <p:nvPr/>
        </p:nvSpPr>
        <p:spPr>
          <a:xfrm>
            <a:off x="8046720" y="3666744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num 4"/>
          <p:cNvSpPr txBox="1"/>
          <p:nvPr/>
        </p:nvSpPr>
        <p:spPr>
          <a:xfrm>
            <a:off x="804672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work 4"/>
          <p:cNvSpPr txBox="1"/>
          <p:nvPr/>
        </p:nvSpPr>
        <p:spPr>
          <a:xfrm>
            <a:off x="8641080" y="366674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既有綠地整地鋪設草皮</a:t>
            </a:r>
            <a:endParaRPr lang="en-US" sz="1500" dirty="0"/>
          </a:p>
        </p:txBody>
      </p:sp>
      <p:sp>
        <p:nvSpPr>
          <p:cNvPr id="19" name="num circle 5"/>
          <p:cNvSpPr/>
          <p:nvPr/>
        </p:nvSpPr>
        <p:spPr>
          <a:xfrm>
            <a:off x="8046720" y="4187952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num 5"/>
          <p:cNvSpPr txBox="1"/>
          <p:nvPr/>
        </p:nvSpPr>
        <p:spPr>
          <a:xfrm>
            <a:off x="8046720" y="4187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work 5"/>
          <p:cNvSpPr txBox="1"/>
          <p:nvPr/>
        </p:nvSpPr>
        <p:spPr>
          <a:xfrm>
            <a:off x="8641080" y="41879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新植喬木、新設造型座椅</a:t>
            </a:r>
            <a:endParaRPr lang="en-US" sz="1500" dirty="0"/>
          </a:p>
        </p:txBody>
      </p:sp>
      <p:sp>
        <p:nvSpPr>
          <p:cNvPr id="22" name="num circle 6"/>
          <p:cNvSpPr/>
          <p:nvPr/>
        </p:nvSpPr>
        <p:spPr>
          <a:xfrm>
            <a:off x="8046720" y="4709160"/>
            <a:ext cx="420624" cy="42062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3" name="num 6"/>
          <p:cNvSpPr txBox="1"/>
          <p:nvPr/>
        </p:nvSpPr>
        <p:spPr>
          <a:xfrm>
            <a:off x="8046720" y="4709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4" name="work 6"/>
          <p:cNvSpPr txBox="1"/>
          <p:nvPr/>
        </p:nvSpPr>
        <p:spPr>
          <a:xfrm>
            <a:off x="8641080" y="470916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新設清水紅磚造型花台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工區二 兒一公園｜平面配置與施作數量</a:t>
            </a:r>
            <a:endParaRPr lang="en-US" sz="3200" dirty="0"/>
          </a:p>
        </p:txBody>
      </p:sp>
      <p:sp>
        <p:nvSpPr>
          <p:cNvPr id="3" name="plan frame"/>
          <p:cNvSpPr/>
          <p:nvPr/>
        </p:nvSpPr>
        <p:spPr>
          <a:xfrm>
            <a:off x="548640" y="1371600"/>
            <a:ext cx="7680960" cy="4846320"/>
          </a:xfrm>
          <a:prstGeom prst="roundRect">
            <a:avLst>
              <a:gd name="adj" fmla="val 2830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4" name="plan caption"/>
          <p:cNvSpPr txBox="1"/>
          <p:nvPr/>
        </p:nvSpPr>
        <p:spPr>
          <a:xfrm>
            <a:off x="73152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平面配置圖（修正版）</a:t>
            </a:r>
            <a:endParaRPr lang="en-US" sz="1200" dirty="0"/>
          </a:p>
        </p:txBody>
      </p:sp>
      <p:pic>
        <p:nvPicPr>
          <p:cNvPr id="5" name="plan drawing" descr="/tmp/claude-0/-home-user-WORK/17061699-df28-586b-9ead-2ea441853089/scratchpad/img/rev-2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31362"/>
            <a:ext cx="7406640" cy="2846836"/>
          </a:xfrm>
          <a:prstGeom prst="rect">
            <a:avLst/>
          </a:prstGeom>
        </p:spPr>
      </p:pic>
      <p:sp>
        <p:nvSpPr>
          <p:cNvPr id="6" name="stat card 1"/>
          <p:cNvSpPr/>
          <p:nvPr/>
        </p:nvSpPr>
        <p:spPr>
          <a:xfrm>
            <a:off x="8503920" y="1371600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3">
              <a:alpha val="35000"/>
            </a:schemeClr>
          </a:solidFill>
          <a:ln/>
        </p:spPr>
      </p:sp>
      <p:sp>
        <p:nvSpPr>
          <p:cNvPr id="7" name="stat value 1"/>
          <p:cNvSpPr txBox="1"/>
          <p:nvPr/>
        </p:nvSpPr>
        <p:spPr>
          <a:xfrm>
            <a:off x="8613648" y="149961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214.1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8" name="stat label 1"/>
          <p:cNvSpPr txBox="1"/>
          <p:nvPr/>
        </p:nvSpPr>
        <p:spPr>
          <a:xfrm>
            <a:off x="8613648" y="20482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混凝土鋪面</a:t>
            </a:r>
            <a:endParaRPr lang="en-US" sz="1200" dirty="0"/>
          </a:p>
        </p:txBody>
      </p:sp>
      <p:sp>
        <p:nvSpPr>
          <p:cNvPr id="9" name="stat card 2"/>
          <p:cNvSpPr/>
          <p:nvPr/>
        </p:nvSpPr>
        <p:spPr>
          <a:xfrm>
            <a:off x="10104120" y="1371600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4">
              <a:alpha val="35000"/>
            </a:schemeClr>
          </a:solidFill>
          <a:ln/>
        </p:spPr>
      </p:sp>
      <p:sp>
        <p:nvSpPr>
          <p:cNvPr id="10" name="stat value 2"/>
          <p:cNvSpPr txBox="1"/>
          <p:nvPr/>
        </p:nvSpPr>
        <p:spPr>
          <a:xfrm>
            <a:off x="10213848" y="149961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114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11" name="stat label 2"/>
          <p:cNvSpPr txBox="1"/>
          <p:nvPr/>
        </p:nvSpPr>
        <p:spPr>
          <a:xfrm>
            <a:off x="10213848" y="20482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噴花地坪</a:t>
            </a:r>
            <a:endParaRPr lang="en-US" sz="1200" dirty="0"/>
          </a:p>
        </p:txBody>
      </p:sp>
      <p:sp>
        <p:nvSpPr>
          <p:cNvPr id="12" name="stat card 3"/>
          <p:cNvSpPr/>
          <p:nvPr/>
        </p:nvSpPr>
        <p:spPr>
          <a:xfrm>
            <a:off x="8503920" y="2624328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5">
              <a:alpha val="35000"/>
            </a:schemeClr>
          </a:solidFill>
          <a:ln/>
        </p:spPr>
      </p:sp>
      <p:sp>
        <p:nvSpPr>
          <p:cNvPr id="13" name="stat value 3"/>
          <p:cNvSpPr txBox="1"/>
          <p:nvPr/>
        </p:nvSpPr>
        <p:spPr>
          <a:xfrm>
            <a:off x="8613648" y="275234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121.9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14" name="stat label 3"/>
          <p:cNvSpPr txBox="1"/>
          <p:nvPr/>
        </p:nvSpPr>
        <p:spPr>
          <a:xfrm>
            <a:off x="8613648" y="3300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鋪設地毯草</a:t>
            </a:r>
            <a:endParaRPr lang="en-US" sz="1200" dirty="0"/>
          </a:p>
        </p:txBody>
      </p:sp>
      <p:sp>
        <p:nvSpPr>
          <p:cNvPr id="15" name="stat card 4"/>
          <p:cNvSpPr/>
          <p:nvPr/>
        </p:nvSpPr>
        <p:spPr>
          <a:xfrm>
            <a:off x="10104120" y="2624328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6">
              <a:alpha val="35000"/>
            </a:schemeClr>
          </a:solidFill>
          <a:ln/>
        </p:spPr>
      </p:sp>
      <p:sp>
        <p:nvSpPr>
          <p:cNvPr id="16" name="stat value 4"/>
          <p:cNvSpPr txBox="1"/>
          <p:nvPr/>
        </p:nvSpPr>
        <p:spPr>
          <a:xfrm>
            <a:off x="10213848" y="275234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57.6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</a:t>
            </a:r>
            <a:endParaRPr lang="en-US" sz="2600" dirty="0"/>
          </a:p>
        </p:txBody>
      </p:sp>
      <p:sp>
        <p:nvSpPr>
          <p:cNvPr id="17" name="stat label 4"/>
          <p:cNvSpPr txBox="1"/>
          <p:nvPr/>
        </p:nvSpPr>
        <p:spPr>
          <a:xfrm>
            <a:off x="10213848" y="3300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透水溝</a:t>
            </a:r>
            <a:endParaRPr lang="en-US" sz="1200" dirty="0"/>
          </a:p>
        </p:txBody>
      </p:sp>
      <p:sp>
        <p:nvSpPr>
          <p:cNvPr id="18" name="stat card 5"/>
          <p:cNvSpPr/>
          <p:nvPr/>
        </p:nvSpPr>
        <p:spPr>
          <a:xfrm>
            <a:off x="8503920" y="3877056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9" name="stat value 5"/>
          <p:cNvSpPr txBox="1"/>
          <p:nvPr/>
        </p:nvSpPr>
        <p:spPr>
          <a:xfrm>
            <a:off x="8613648" y="40050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77.25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</a:t>
            </a:r>
            <a:endParaRPr lang="en-US" sz="2600" dirty="0"/>
          </a:p>
        </p:txBody>
      </p:sp>
      <p:sp>
        <p:nvSpPr>
          <p:cNvPr id="20" name="stat label 5"/>
          <p:cNvSpPr txBox="1"/>
          <p:nvPr/>
        </p:nvSpPr>
        <p:spPr>
          <a:xfrm>
            <a:off x="8613648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塑木圍籬</a:t>
            </a:r>
            <a:endParaRPr lang="en-US" sz="1200" dirty="0"/>
          </a:p>
        </p:txBody>
      </p:sp>
      <p:sp>
        <p:nvSpPr>
          <p:cNvPr id="21" name="stat card 6"/>
          <p:cNvSpPr/>
          <p:nvPr/>
        </p:nvSpPr>
        <p:spPr>
          <a:xfrm>
            <a:off x="10104120" y="3877056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2">
              <a:alpha val="35000"/>
            </a:schemeClr>
          </a:solidFill>
          <a:ln/>
        </p:spPr>
      </p:sp>
      <p:sp>
        <p:nvSpPr>
          <p:cNvPr id="22" name="stat value 6"/>
          <p:cNvSpPr txBox="1"/>
          <p:nvPr/>
        </p:nvSpPr>
        <p:spPr>
          <a:xfrm>
            <a:off x="10213848" y="40050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座</a:t>
            </a:r>
            <a:endParaRPr lang="en-US" sz="2600" dirty="0"/>
          </a:p>
        </p:txBody>
      </p:sp>
      <p:sp>
        <p:nvSpPr>
          <p:cNvPr id="23" name="stat label 6"/>
          <p:cNvSpPr txBox="1"/>
          <p:nvPr/>
        </p:nvSpPr>
        <p:spPr>
          <a:xfrm>
            <a:off x="10213848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預鑄陰井</a:t>
            </a:r>
            <a:endParaRPr lang="en-US" sz="1200" dirty="0"/>
          </a:p>
        </p:txBody>
      </p:sp>
      <p:sp>
        <p:nvSpPr>
          <p:cNvPr id="24" name="stat card 7"/>
          <p:cNvSpPr/>
          <p:nvPr/>
        </p:nvSpPr>
        <p:spPr>
          <a:xfrm>
            <a:off x="8503920" y="5129784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3">
              <a:alpha val="35000"/>
            </a:schemeClr>
          </a:solidFill>
          <a:ln/>
        </p:spPr>
      </p:sp>
      <p:sp>
        <p:nvSpPr>
          <p:cNvPr id="25" name="stat value 7"/>
          <p:cNvSpPr txBox="1"/>
          <p:nvPr/>
        </p:nvSpPr>
        <p:spPr>
          <a:xfrm>
            <a:off x="8613648" y="5257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株</a:t>
            </a:r>
            <a:endParaRPr lang="en-US" sz="2600" dirty="0"/>
          </a:p>
        </p:txBody>
      </p:sp>
      <p:sp>
        <p:nvSpPr>
          <p:cNvPr id="26" name="stat label 7"/>
          <p:cNvSpPr txBox="1"/>
          <p:nvPr/>
        </p:nvSpPr>
        <p:spPr>
          <a:xfrm>
            <a:off x="8613648" y="58064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新植喬木</a:t>
            </a:r>
            <a:endParaRPr lang="en-US" sz="1200" dirty="0"/>
          </a:p>
        </p:txBody>
      </p:sp>
      <p:sp>
        <p:nvSpPr>
          <p:cNvPr id="27" name="stat card 8"/>
          <p:cNvSpPr/>
          <p:nvPr/>
        </p:nvSpPr>
        <p:spPr>
          <a:xfrm>
            <a:off x="10104120" y="5129784"/>
            <a:ext cx="1463040" cy="1115568"/>
          </a:xfrm>
          <a:prstGeom prst="roundRect">
            <a:avLst>
              <a:gd name="adj" fmla="val 12295"/>
            </a:avLst>
          </a:prstGeom>
          <a:solidFill>
            <a:schemeClr val="accent4">
              <a:alpha val="35000"/>
            </a:schemeClr>
          </a:solidFill>
          <a:ln/>
        </p:spPr>
      </p:sp>
      <p:sp>
        <p:nvSpPr>
          <p:cNvPr id="28" name="stat value 8"/>
          <p:cNvSpPr txBox="1"/>
          <p:nvPr/>
        </p:nvSpPr>
        <p:spPr>
          <a:xfrm>
            <a:off x="10213848" y="5257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9.9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m²</a:t>
            </a:r>
            <a:endParaRPr lang="en-US" sz="2600" dirty="0"/>
          </a:p>
        </p:txBody>
      </p:sp>
      <p:sp>
        <p:nvSpPr>
          <p:cNvPr id="29" name="stat label 8"/>
          <p:cNvSpPr txBox="1"/>
          <p:nvPr/>
        </p:nvSpPr>
        <p:spPr>
          <a:xfrm>
            <a:off x="10213848" y="58064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樹穴結構模組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ubble 1"/>
          <p:cNvSpPr/>
          <p:nvPr/>
        </p:nvSpPr>
        <p:spPr>
          <a:xfrm>
            <a:off x="6949440" y="-731520"/>
            <a:ext cx="2377440" cy="2377440"/>
          </a:xfrm>
          <a:prstGeom prst="ellipse">
            <a:avLst/>
          </a:prstGeom>
          <a:solidFill>
            <a:schemeClr val="accent2">
              <a:alpha val="80000"/>
            </a:schemeClr>
          </a:solidFill>
          <a:ln/>
        </p:spPr>
      </p:sp>
      <p:sp>
        <p:nvSpPr>
          <p:cNvPr id="3" name="bubble 2"/>
          <p:cNvSpPr/>
          <p:nvPr/>
        </p:nvSpPr>
        <p:spPr>
          <a:xfrm>
            <a:off x="6309360" y="5120640"/>
            <a:ext cx="1645920" cy="1645920"/>
          </a:xfrm>
          <a:prstGeom prst="ellipse">
            <a:avLst/>
          </a:prstGeom>
          <a:solidFill>
            <a:schemeClr val="accent3">
              <a:alpha val="80000"/>
            </a:schemeClr>
          </a:solidFill>
          <a:ln/>
        </p:spPr>
      </p:sp>
      <p:sp>
        <p:nvSpPr>
          <p:cNvPr id="4" name="photo frame"/>
          <p:cNvSpPr/>
          <p:nvPr/>
        </p:nvSpPr>
        <p:spPr>
          <a:xfrm>
            <a:off x="7498080" y="822960"/>
            <a:ext cx="4114800" cy="52120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50800" dir="5400000">
              <a:srgbClr val="A8D5A2">
                <a:alpha val="40000"/>
              </a:srgbClr>
            </a:outerShdw>
          </a:effectLst>
        </p:spPr>
      </p:sp>
      <p:pic>
        <p:nvPicPr>
          <p:cNvPr id="5" name="photo" descr="/tmp/claude-0/-home-user-WORK/17061699-df28-586b-9ead-2ea441853089/scratchpad/img/photo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005840"/>
            <a:ext cx="3749040" cy="4846320"/>
          </a:xfrm>
          <a:prstGeom prst="rect">
            <a:avLst/>
          </a:prstGeom>
        </p:spPr>
      </p:pic>
      <p:sp>
        <p:nvSpPr>
          <p:cNvPr id="6" name="bubble 1"/>
          <p:cNvSpPr/>
          <p:nvPr/>
        </p:nvSpPr>
        <p:spPr>
          <a:xfrm>
            <a:off x="-548640" y="-548640"/>
            <a:ext cx="1645920" cy="1645920"/>
          </a:xfrm>
          <a:prstGeom prst="ellipse">
            <a:avLst/>
          </a:prstGeom>
          <a:solidFill>
            <a:schemeClr val="accent3">
              <a:alpha val="70000"/>
            </a:schemeClr>
          </a:solidFill>
          <a:ln/>
        </p:spPr>
      </p:sp>
      <p:sp>
        <p:nvSpPr>
          <p:cNvPr id="7" name="bubble 2"/>
          <p:cNvSpPr/>
          <p:nvPr/>
        </p:nvSpPr>
        <p:spPr>
          <a:xfrm>
            <a:off x="5303520" y="5852160"/>
            <a:ext cx="1097280" cy="1097280"/>
          </a:xfrm>
          <a:prstGeom prst="ellipse">
            <a:avLst/>
          </a:prstGeom>
          <a:solidFill>
            <a:schemeClr val="accent1">
              <a:alpha val="70000"/>
            </a:schemeClr>
          </a:solidFill>
          <a:ln/>
        </p:spPr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完工效益</a:t>
            </a:r>
            <a:endParaRPr lang="en-US" sz="3600" dirty="0"/>
          </a:p>
        </p:txBody>
      </p:sp>
      <p:sp>
        <p:nvSpPr>
          <p:cNvPr id="9" name="benefit pill 1"/>
          <p:cNvSpPr/>
          <p:nvPr/>
        </p:nvSpPr>
        <p:spPr>
          <a:xfrm>
            <a:off x="640080" y="3090672"/>
            <a:ext cx="118872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benefit tag 1"/>
          <p:cNvSpPr txBox="1"/>
          <p:nvPr/>
        </p:nvSpPr>
        <p:spPr>
          <a:xfrm>
            <a:off x="640080" y="309067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排水順暢</a:t>
            </a:r>
            <a:endParaRPr lang="en-US" sz="1500" dirty="0"/>
          </a:p>
        </p:txBody>
      </p:sp>
      <p:sp>
        <p:nvSpPr>
          <p:cNvPr id="11" name="benefit 1"/>
          <p:cNvSpPr txBox="1"/>
          <p:nvPr/>
        </p:nvSpPr>
        <p:spPr>
          <a:xfrm>
            <a:off x="2011680" y="3017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新設排水溝、透水管與陰井，改善園內積水</a:t>
            </a:r>
            <a:endParaRPr lang="en-US" sz="1600" dirty="0"/>
          </a:p>
        </p:txBody>
      </p:sp>
      <p:sp>
        <p:nvSpPr>
          <p:cNvPr id="12" name="benefit pill 2"/>
          <p:cNvSpPr/>
          <p:nvPr/>
        </p:nvSpPr>
        <p:spPr>
          <a:xfrm>
            <a:off x="640080" y="3867912"/>
            <a:ext cx="118872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3" name="benefit tag 2"/>
          <p:cNvSpPr txBox="1"/>
          <p:nvPr/>
        </p:nvSpPr>
        <p:spPr>
          <a:xfrm>
            <a:off x="640080" y="38679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休憩空間</a:t>
            </a:r>
            <a:endParaRPr lang="en-US" sz="1500" dirty="0"/>
          </a:p>
        </p:txBody>
      </p:sp>
      <p:sp>
        <p:nvSpPr>
          <p:cNvPr id="14" name="benefit 2"/>
          <p:cNvSpPr txBox="1"/>
          <p:nvPr/>
        </p:nvSpPr>
        <p:spPr>
          <a:xfrm>
            <a:off x="2011680" y="3794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新設休憩廣場與座椅，提供民眾停留使用</a:t>
            </a:r>
            <a:endParaRPr lang="en-US" sz="1600" dirty="0"/>
          </a:p>
        </p:txBody>
      </p:sp>
      <p:sp>
        <p:nvSpPr>
          <p:cNvPr id="15" name="benefit pill 3"/>
          <p:cNvSpPr/>
          <p:nvPr/>
        </p:nvSpPr>
        <p:spPr>
          <a:xfrm>
            <a:off x="640080" y="4645152"/>
            <a:ext cx="1188720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benefit tag 3"/>
          <p:cNvSpPr txBox="1"/>
          <p:nvPr/>
        </p:nvSpPr>
        <p:spPr>
          <a:xfrm>
            <a:off x="640080" y="46451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通行友善</a:t>
            </a:r>
            <a:endParaRPr lang="en-US" sz="1500" dirty="0"/>
          </a:p>
        </p:txBody>
      </p:sp>
      <p:sp>
        <p:nvSpPr>
          <p:cNvPr id="17" name="benefit 3"/>
          <p:cNvSpPr txBox="1"/>
          <p:nvPr/>
        </p:nvSpPr>
        <p:spPr>
          <a:xfrm>
            <a:off x="2011680" y="45720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拓寬及增設人行步道，動線更安全平順</a:t>
            </a:r>
            <a:endParaRPr lang="en-US" sz="1600" dirty="0"/>
          </a:p>
        </p:txBody>
      </p:sp>
      <p:sp>
        <p:nvSpPr>
          <p:cNvPr id="18" name="benefit pill 4"/>
          <p:cNvSpPr/>
          <p:nvPr/>
        </p:nvSpPr>
        <p:spPr>
          <a:xfrm>
            <a:off x="640080" y="5422392"/>
            <a:ext cx="1188720" cy="4023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9" name="benefit tag 4"/>
          <p:cNvSpPr txBox="1"/>
          <p:nvPr/>
        </p:nvSpPr>
        <p:spPr>
          <a:xfrm>
            <a:off x="640080" y="54223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綠意運動</a:t>
            </a:r>
            <a:endParaRPr lang="en-US" sz="1500" dirty="0"/>
          </a:p>
        </p:txBody>
      </p:sp>
      <p:sp>
        <p:nvSpPr>
          <p:cNvPr id="20" name="benefit 4"/>
          <p:cNvSpPr txBox="1"/>
          <p:nvPr/>
        </p:nvSpPr>
        <p:spPr>
          <a:xfrm>
            <a:off x="201168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整地鋪設草皮、新植喬木、增設及更新體健設施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40233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k Pastel">
  <a:themeElements>
    <a:clrScheme name="Park Pastel">
      <a:dk1>
        <a:srgbClr val="33402F"/>
      </a:dk1>
      <a:lt1>
        <a:srgbClr val="FFFFFF"/>
      </a:lt1>
      <a:dk2>
        <a:srgbClr val="2F5D3A"/>
      </a:dk2>
      <a:lt2>
        <a:srgbClr val="EEF6E8"/>
      </a:lt2>
      <a:accent1>
        <a:srgbClr val="A8D5A2"/>
      </a:accent1>
      <a:accent2>
        <a:srgbClr val="FFE08A"/>
      </a:accent2>
      <a:accent3>
        <a:srgbClr val="A7D3F2"/>
      </a:accent3>
      <a:accent4>
        <a:srgbClr val="F7B7C3"/>
      </a:accent4>
      <a:accent5>
        <a:srgbClr val="E8C4A0"/>
      </a:accent5>
      <a:accent6>
        <a:srgbClr val="C9E4B4"/>
      </a:accent6>
      <a:hlink>
        <a:srgbClr val="2F5D3A"/>
      </a:hlink>
      <a:folHlink>
        <a:srgbClr val="5E7C64"/>
      </a:folHlink>
    </a:clrScheme>
    <a:fontScheme name="Park Past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115年度蘆洲區公園廣場基礎設施整建工程 完工成果說明</dc:title>
  <dc:subject>PptxGenJS Presentation</dc:subject>
  <dc:creator>新北市蘆洲區公所</dc:creator>
  <cp:lastModifiedBy>新北市蘆洲區公所</cp:lastModifiedBy>
  <cp:revision>1</cp:revision>
  <dcterms:created xsi:type="dcterms:W3CDTF">2026-10-20T09:26:23Z</dcterms:created>
  <dcterms:modified xsi:type="dcterms:W3CDTF">2026-10-20T09:26:23Z</dcterms:modified>
</cp:coreProperties>
</file>