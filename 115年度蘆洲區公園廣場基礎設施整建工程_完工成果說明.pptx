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d98df7e3-dd71-b9cc-719a-fcab97e81bb2}">
          <p14:sldIdLst>
            <p14:sldId id="256"/>
          </p14:sldIdLst>
        </p14:section>
        <p14:section name="工程概要" id="{c1275d01-8318-0df9-0d52-050ff7517cac}">
          <p14:sldIdLst>
            <p14:sldId id="257"/>
          </p14:sldIdLst>
        </p14:section>
        <p14:section name="工區一 永安兒童公園" id="{d6509b20-f59d-81c5-995a-afbf06ed9450}">
          <p14:sldIdLst>
            <p14:sldId id="258"/>
            <p14:sldId id="259"/>
          </p14:sldIdLst>
        </p14:section>
        <p14:section name="工區二 兒一公園" id="{01ffd536-1f0d-e1b0-3b79-07ba9bcfe710}">
          <p14:sldIdLst>
            <p14:sldId id="260"/>
            <p14:sldId id="261"/>
          </p14:sldIdLst>
        </p14:section>
        <p14:section name="完工效益" id="{abc3890e-5567-450b-e9ea-7bd77c353745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02336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bble 1"/>
          <p:cNvSpPr/>
          <p:nvPr/>
        </p:nvSpPr>
        <p:spPr>
          <a:xfrm>
            <a:off x="6949440" y="-731520"/>
            <a:ext cx="2377440" cy="237744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3" name="bubble 2"/>
          <p:cNvSpPr/>
          <p:nvPr/>
        </p:nvSpPr>
        <p:spPr>
          <a:xfrm>
            <a:off x="6309360" y="5120640"/>
            <a:ext cx="1645920" cy="1645920"/>
          </a:xfrm>
          <a:prstGeom prst="ellipse">
            <a:avLst/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4" name="photo frame"/>
          <p:cNvSpPr/>
          <p:nvPr/>
        </p:nvSpPr>
        <p:spPr>
          <a:xfrm>
            <a:off x="7498080" y="822960"/>
            <a:ext cx="4114800" cy="52120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C3A6FF">
                <a:alpha val="35000"/>
              </a:srgbClr>
            </a:outerShdw>
          </a:effectLst>
        </p:spPr>
      </p:sp>
      <p:pic>
        <p:nvPicPr>
          <p:cNvPr id="5" name="photo" descr="/tmp/claude-0/-home-user-WORK/17061699-df28-586b-9ead-2ea441853089/scratchpad/img/photo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005840"/>
            <a:ext cx="3749040" cy="4846320"/>
          </a:xfrm>
          <a:prstGeom prst="rect">
            <a:avLst/>
          </a:prstGeom>
        </p:spPr>
      </p:pic>
      <p:sp>
        <p:nvSpPr>
          <p:cNvPr id="6" name="bubbl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7" name="bubble 2"/>
          <p:cNvSpPr/>
          <p:nvPr/>
        </p:nvSpPr>
        <p:spPr>
          <a:xfrm>
            <a:off x="5303520" y="5852160"/>
            <a:ext cx="1097280" cy="1097280"/>
          </a:xfrm>
          <a:prstGeom prst="ellipse">
            <a:avLst/>
          </a:prstGeom>
          <a:solidFill>
            <a:schemeClr val="accent5">
              <a:alpha val="70000"/>
            </a:schemeClr>
          </a:solidFill>
          <a:ln/>
        </p:spPr>
      </p:sp>
      <p:sp>
        <p:nvSpPr>
          <p:cNvPr id="8" name="kicker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完工成果說明</a:t>
            </a:r>
            <a:endParaRPr lang="en-US" sz="18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115年度蘆洲區公園廣場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基礎設施整建工程</a:t>
            </a:r>
            <a:endParaRPr lang="en-US" sz="36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640080" y="4023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永安兒童公園、兒一公園及仁愛廣場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主辦機關｜新北市蘆洲區公所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工程概要</a:t>
            </a:r>
            <a:endParaRPr lang="en-US" sz="3200" dirty="0"/>
          </a:p>
        </p:txBody>
      </p:sp>
      <p:sp>
        <p:nvSpPr>
          <p:cNvPr id="3" name="工區一 card"/>
          <p:cNvSpPr/>
          <p:nvPr/>
        </p:nvSpPr>
        <p:spPr>
          <a:xfrm>
            <a:off x="548640" y="1371600"/>
            <a:ext cx="5349240" cy="4846320"/>
          </a:xfrm>
          <a:prstGeom prst="roundRect">
            <a:avLst>
              <a:gd name="adj" fmla="val 3774"/>
            </a:avLst>
          </a:prstGeom>
          <a:solidFill>
            <a:schemeClr val="accent1">
              <a:alpha val="22000"/>
            </a:schemeClr>
          </a:solidFill>
          <a:ln/>
        </p:spPr>
      </p:sp>
      <p:pic>
        <p:nvPicPr>
          <p:cNvPr id="4" name="工區一 photo" descr="/tmp/claude-0/-home-user-WORK/17061699-df28-586b-9ead-2ea441853089/scratchpad/img/photo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00200"/>
            <a:ext cx="4892040" cy="2743200"/>
          </a:xfrm>
          <a:prstGeom prst="rect">
            <a:avLst/>
          </a:prstGeom>
        </p:spPr>
      </p:pic>
      <p:sp>
        <p:nvSpPr>
          <p:cNvPr id="5" name="工區一 pill"/>
          <p:cNvSpPr/>
          <p:nvPr/>
        </p:nvSpPr>
        <p:spPr>
          <a:xfrm>
            <a:off x="777240" y="4553712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工區一 tag"/>
          <p:cNvSpPr txBox="1"/>
          <p:nvPr/>
        </p:nvSpPr>
        <p:spPr>
          <a:xfrm>
            <a:off x="777240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工區一</a:t>
            </a:r>
            <a:endParaRPr lang="en-US" sz="1400" dirty="0"/>
          </a:p>
        </p:txBody>
      </p:sp>
      <p:sp>
        <p:nvSpPr>
          <p:cNvPr id="7" name="工區一 name"/>
          <p:cNvSpPr txBox="1"/>
          <p:nvPr/>
        </p:nvSpPr>
        <p:spPr>
          <a:xfrm>
            <a:off x="178308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永安兒童公園</a:t>
            </a:r>
            <a:endParaRPr lang="en-US" sz="2200" dirty="0"/>
          </a:p>
        </p:txBody>
      </p:sp>
      <p:sp>
        <p:nvSpPr>
          <p:cNvPr id="8" name="工區一 items"/>
          <p:cNvSpPr txBox="1"/>
          <p:nvPr/>
        </p:nvSpPr>
        <p:spPr>
          <a:xfrm>
            <a:off x="777240" y="5120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排水改善、新設休憩廣場、拓寬人行步道、增設及更新體健設施、綠地整地鋪設草皮</a:t>
            </a:r>
            <a:endParaRPr lang="en-US" sz="1400" dirty="0"/>
          </a:p>
        </p:txBody>
      </p:sp>
      <p:sp>
        <p:nvSpPr>
          <p:cNvPr id="9" name="工區一 duration"/>
          <p:cNvSpPr txBox="1"/>
          <p:nvPr/>
        </p:nvSpPr>
        <p:spPr>
          <a:xfrm>
            <a:off x="777240" y="5806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工期 45 日曆天</a:t>
            </a:r>
            <a:endParaRPr lang="en-US" sz="1200" dirty="0"/>
          </a:p>
        </p:txBody>
      </p:sp>
      <p:sp>
        <p:nvSpPr>
          <p:cNvPr id="10" name="工區二 card"/>
          <p:cNvSpPr/>
          <p:nvPr/>
        </p:nvSpPr>
        <p:spPr>
          <a:xfrm>
            <a:off x="6263640" y="1371600"/>
            <a:ext cx="5349240" cy="4846320"/>
          </a:xfrm>
          <a:prstGeom prst="roundRect">
            <a:avLst>
              <a:gd name="adj" fmla="val 3774"/>
            </a:avLst>
          </a:prstGeom>
          <a:solidFill>
            <a:schemeClr val="accent4">
              <a:alpha val="22000"/>
            </a:schemeClr>
          </a:solidFill>
          <a:ln/>
        </p:spPr>
      </p:sp>
      <p:pic>
        <p:nvPicPr>
          <p:cNvPr id="11" name="工區二 photo" descr="/tmp/claude-0/-home-user-WORK/17061699-df28-586b-9ead-2ea441853089/scratchpad/img/photo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600200"/>
            <a:ext cx="4892040" cy="2743200"/>
          </a:xfrm>
          <a:prstGeom prst="rect">
            <a:avLst/>
          </a:prstGeom>
        </p:spPr>
      </p:pic>
      <p:sp>
        <p:nvSpPr>
          <p:cNvPr id="12" name="工區二 pill"/>
          <p:cNvSpPr/>
          <p:nvPr/>
        </p:nvSpPr>
        <p:spPr>
          <a:xfrm>
            <a:off x="6492240" y="4553712"/>
            <a:ext cx="8686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3" name="工區二 tag"/>
          <p:cNvSpPr txBox="1"/>
          <p:nvPr/>
        </p:nvSpPr>
        <p:spPr>
          <a:xfrm>
            <a:off x="6492240" y="4553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工區二</a:t>
            </a:r>
            <a:endParaRPr lang="en-US" sz="1400" dirty="0"/>
          </a:p>
        </p:txBody>
      </p:sp>
      <p:sp>
        <p:nvSpPr>
          <p:cNvPr id="14" name="工區二 name"/>
          <p:cNvSpPr txBox="1"/>
          <p:nvPr/>
        </p:nvSpPr>
        <p:spPr>
          <a:xfrm>
            <a:off x="749808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兒一公園</a:t>
            </a:r>
            <a:endParaRPr lang="en-US" sz="2200" dirty="0"/>
          </a:p>
        </p:txBody>
      </p:sp>
      <p:sp>
        <p:nvSpPr>
          <p:cNvPr id="15" name="工區二 items"/>
          <p:cNvSpPr txBox="1"/>
          <p:nvPr/>
        </p:nvSpPr>
        <p:spPr>
          <a:xfrm>
            <a:off x="6492240" y="5120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排水改善、新設休憩廣場、增設人行步道、綠地整地鋪設草皮、新植喬木</a:t>
            </a:r>
            <a:endParaRPr lang="en-US" sz="1400" dirty="0"/>
          </a:p>
        </p:txBody>
      </p:sp>
      <p:sp>
        <p:nvSpPr>
          <p:cNvPr id="16" name="工區二 duration"/>
          <p:cNvSpPr txBox="1"/>
          <p:nvPr/>
        </p:nvSpPr>
        <p:spPr>
          <a:xfrm>
            <a:off x="6492240" y="5806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工期 45 日曆天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工區一 永安兒童公園｜完工成果</a:t>
            </a:r>
            <a:endParaRPr lang="en-US" sz="3200" dirty="0"/>
          </a:p>
        </p:txBody>
      </p:sp>
      <p:pic>
        <p:nvPicPr>
          <p:cNvPr id="3" name="aerial photo" descr="/tmp/claude-0/-home-user-WORK/17061699-df28-586b-9ead-2ea441853089/scratchpad/img/photo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922776"/>
          </a:xfrm>
          <a:prstGeom prst="rect">
            <a:avLst/>
          </a:prstGeom>
        </p:spPr>
      </p:pic>
      <p:sp>
        <p:nvSpPr>
          <p:cNvPr id="4" name="photo caption"/>
          <p:cNvSpPr txBox="1"/>
          <p:nvPr/>
        </p:nvSpPr>
        <p:spPr>
          <a:xfrm>
            <a:off x="548640" y="5394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完工空拍</a:t>
            </a:r>
            <a:endParaRPr lang="en-US" sz="1200" dirty="0"/>
          </a:p>
        </p:txBody>
      </p:sp>
      <p:sp>
        <p:nvSpPr>
          <p:cNvPr id="5" name="works card"/>
          <p:cNvSpPr/>
          <p:nvPr/>
        </p:nvSpPr>
        <p:spPr>
          <a:xfrm>
            <a:off x="7772400" y="1371600"/>
            <a:ext cx="3840480" cy="3922776"/>
          </a:xfrm>
          <a:prstGeom prst="roundRect">
            <a:avLst>
              <a:gd name="adj" fmla="val 4762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" name="works header"/>
          <p:cNvSpPr txBox="1"/>
          <p:nvPr/>
        </p:nvSpPr>
        <p:spPr>
          <a:xfrm>
            <a:off x="804672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主要施作內容</a:t>
            </a:r>
            <a:endParaRPr lang="en-US" sz="2000" dirty="0"/>
          </a:p>
        </p:txBody>
      </p:sp>
      <p:sp>
        <p:nvSpPr>
          <p:cNvPr id="7" name="num circle 1"/>
          <p:cNvSpPr/>
          <p:nvPr/>
        </p:nvSpPr>
        <p:spPr>
          <a:xfrm>
            <a:off x="8046720" y="2103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num 1"/>
          <p:cNvSpPr txBox="1"/>
          <p:nvPr/>
        </p:nvSpPr>
        <p:spPr>
          <a:xfrm>
            <a:off x="80467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work 1"/>
          <p:cNvSpPr txBox="1"/>
          <p:nvPr/>
        </p:nvSpPr>
        <p:spPr>
          <a:xfrm>
            <a:off x="8641080" y="21031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排水改善</a:t>
            </a:r>
            <a:endParaRPr lang="en-US" sz="1500" dirty="0"/>
          </a:p>
        </p:txBody>
      </p:sp>
      <p:sp>
        <p:nvSpPr>
          <p:cNvPr id="10" name="num circle 2"/>
          <p:cNvSpPr/>
          <p:nvPr/>
        </p:nvSpPr>
        <p:spPr>
          <a:xfrm>
            <a:off x="8046720" y="26243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 2"/>
          <p:cNvSpPr txBox="1"/>
          <p:nvPr/>
        </p:nvSpPr>
        <p:spPr>
          <a:xfrm>
            <a:off x="804672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work 2"/>
          <p:cNvSpPr txBox="1"/>
          <p:nvPr/>
        </p:nvSpPr>
        <p:spPr>
          <a:xfrm>
            <a:off x="8641080" y="2624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新設休憩廣場</a:t>
            </a:r>
            <a:endParaRPr lang="en-US" sz="1500" dirty="0"/>
          </a:p>
        </p:txBody>
      </p:sp>
      <p:sp>
        <p:nvSpPr>
          <p:cNvPr id="13" name="num circle 3"/>
          <p:cNvSpPr/>
          <p:nvPr/>
        </p:nvSpPr>
        <p:spPr>
          <a:xfrm>
            <a:off x="8046720" y="314553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num 3"/>
          <p:cNvSpPr txBox="1"/>
          <p:nvPr/>
        </p:nvSpPr>
        <p:spPr>
          <a:xfrm>
            <a:off x="804672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work 3"/>
          <p:cNvSpPr txBox="1"/>
          <p:nvPr/>
        </p:nvSpPr>
        <p:spPr>
          <a:xfrm>
            <a:off x="8641080" y="314553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拓寬園內人行步道</a:t>
            </a:r>
            <a:endParaRPr lang="en-US" sz="1500" dirty="0"/>
          </a:p>
        </p:txBody>
      </p:sp>
      <p:sp>
        <p:nvSpPr>
          <p:cNvPr id="16" name="num circle 4"/>
          <p:cNvSpPr/>
          <p:nvPr/>
        </p:nvSpPr>
        <p:spPr>
          <a:xfrm>
            <a:off x="8046720" y="3666744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num 4"/>
          <p:cNvSpPr txBox="1"/>
          <p:nvPr/>
        </p:nvSpPr>
        <p:spPr>
          <a:xfrm>
            <a:off x="804672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work 4"/>
          <p:cNvSpPr txBox="1"/>
          <p:nvPr/>
        </p:nvSpPr>
        <p:spPr>
          <a:xfrm>
            <a:off x="8641080" y="366674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增設及更新體健設施</a:t>
            </a:r>
            <a:endParaRPr lang="en-US" sz="1500" dirty="0"/>
          </a:p>
        </p:txBody>
      </p:sp>
      <p:sp>
        <p:nvSpPr>
          <p:cNvPr id="19" name="num circle 5"/>
          <p:cNvSpPr/>
          <p:nvPr/>
        </p:nvSpPr>
        <p:spPr>
          <a:xfrm>
            <a:off x="8046720" y="4187952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num 5"/>
          <p:cNvSpPr txBox="1"/>
          <p:nvPr/>
        </p:nvSpPr>
        <p:spPr>
          <a:xfrm>
            <a:off x="804672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work 5"/>
          <p:cNvSpPr txBox="1"/>
          <p:nvPr/>
        </p:nvSpPr>
        <p:spPr>
          <a:xfrm>
            <a:off x="8641080" y="41879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既有綠地整地鋪設草皮</a:t>
            </a:r>
            <a:endParaRPr lang="en-US" sz="1500" dirty="0"/>
          </a:p>
        </p:txBody>
      </p:sp>
      <p:sp>
        <p:nvSpPr>
          <p:cNvPr id="22" name="num circle 6"/>
          <p:cNvSpPr/>
          <p:nvPr/>
        </p:nvSpPr>
        <p:spPr>
          <a:xfrm>
            <a:off x="8046720" y="4709160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num 6"/>
          <p:cNvSpPr txBox="1"/>
          <p:nvPr/>
        </p:nvSpPr>
        <p:spPr>
          <a:xfrm>
            <a:off x="804672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24" name="work 6"/>
          <p:cNvSpPr txBox="1"/>
          <p:nvPr/>
        </p:nvSpPr>
        <p:spPr>
          <a:xfrm>
            <a:off x="8641080" y="470916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廁所外牆重新粉刷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工區一 永安兒童公園｜平面配置與施作項目</a:t>
            </a:r>
            <a:endParaRPr lang="en-US" sz="3200" dirty="0"/>
          </a:p>
        </p:txBody>
      </p:sp>
      <p:sp>
        <p:nvSpPr>
          <p:cNvPr id="3" name="plan frame"/>
          <p:cNvSpPr/>
          <p:nvPr/>
        </p:nvSpPr>
        <p:spPr>
          <a:xfrm>
            <a:off x="548640" y="1371600"/>
            <a:ext cx="7680960" cy="4846320"/>
          </a:xfrm>
          <a:prstGeom prst="roundRect">
            <a:avLst>
              <a:gd name="adj" fmla="val 283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plan caption"/>
          <p:cNvSpPr txBox="1"/>
          <p:nvPr/>
        </p:nvSpPr>
        <p:spPr>
          <a:xfrm>
            <a:off x="7315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平面配置圖（修正版）</a:t>
            </a:r>
            <a:endParaRPr lang="en-US" sz="1200" dirty="0"/>
          </a:p>
        </p:txBody>
      </p:sp>
      <p:pic>
        <p:nvPicPr>
          <p:cNvPr id="5" name="plan drawing" descr="/tmp/claude-0/-home-user-WORK/17061699-df28-586b-9ead-2ea441853089/scratchpad/img/rev-1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83" y="1828800"/>
            <a:ext cx="6917673" cy="4251960"/>
          </a:xfrm>
          <a:prstGeom prst="rect">
            <a:avLst/>
          </a:prstGeom>
        </p:spPr>
      </p:pic>
      <p:sp>
        <p:nvSpPr>
          <p:cNvPr id="6" name="stat card 1"/>
          <p:cNvSpPr/>
          <p:nvPr/>
        </p:nvSpPr>
        <p:spPr>
          <a:xfrm>
            <a:off x="8503920" y="1371600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7" name="stat value 1"/>
          <p:cNvSpPr txBox="1"/>
          <p:nvPr/>
        </p:nvSpPr>
        <p:spPr>
          <a:xfrm>
            <a:off x="8641080" y="1536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組</a:t>
            </a:r>
            <a:endParaRPr lang="en-US" sz="3000" dirty="0"/>
          </a:p>
        </p:txBody>
      </p:sp>
      <p:sp>
        <p:nvSpPr>
          <p:cNvPr id="8" name="stat label 1"/>
          <p:cNvSpPr txBox="1"/>
          <p:nvPr/>
        </p:nvSpPr>
        <p:spPr>
          <a:xfrm>
            <a:off x="86410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體健設施新設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10104120" y="1371600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0" name="stat value 2"/>
          <p:cNvSpPr txBox="1"/>
          <p:nvPr/>
        </p:nvSpPr>
        <p:spPr>
          <a:xfrm>
            <a:off x="10241280" y="1536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組</a:t>
            </a:r>
            <a:endParaRPr lang="en-US" sz="3000" dirty="0"/>
          </a:p>
        </p:txBody>
      </p:sp>
      <p:sp>
        <p:nvSpPr>
          <p:cNvPr id="11" name="stat label 2"/>
          <p:cNvSpPr txBox="1"/>
          <p:nvPr/>
        </p:nvSpPr>
        <p:spPr>
          <a:xfrm>
            <a:off x="102412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體健設施更新</a:t>
            </a:r>
            <a:endParaRPr lang="en-US" sz="1200" dirty="0"/>
          </a:p>
        </p:txBody>
      </p:sp>
      <p:sp>
        <p:nvSpPr>
          <p:cNvPr id="12" name="stat card 3"/>
          <p:cNvSpPr/>
          <p:nvPr/>
        </p:nvSpPr>
        <p:spPr>
          <a:xfrm>
            <a:off x="8503920" y="3035808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13" name="stat value 3"/>
          <p:cNvSpPr txBox="1"/>
          <p:nvPr/>
        </p:nvSpPr>
        <p:spPr>
          <a:xfrm>
            <a:off x="8641080" y="3200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座</a:t>
            </a:r>
            <a:endParaRPr lang="en-US" sz="3000" dirty="0"/>
          </a:p>
        </p:txBody>
      </p:sp>
      <p:sp>
        <p:nvSpPr>
          <p:cNvPr id="14" name="stat label 3"/>
          <p:cNvSpPr txBox="1"/>
          <p:nvPr/>
        </p:nvSpPr>
        <p:spPr>
          <a:xfrm>
            <a:off x="8641080" y="38130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新設座椅</a:t>
            </a:r>
            <a:endParaRPr lang="en-US" sz="1200" dirty="0"/>
          </a:p>
        </p:txBody>
      </p:sp>
      <p:sp>
        <p:nvSpPr>
          <p:cNvPr id="15" name="stat card 4"/>
          <p:cNvSpPr/>
          <p:nvPr/>
        </p:nvSpPr>
        <p:spPr>
          <a:xfrm>
            <a:off x="10104120" y="3035808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4">
              <a:alpha val="35000"/>
            </a:schemeClr>
          </a:solidFill>
          <a:ln/>
        </p:spPr>
      </p:sp>
      <p:sp>
        <p:nvSpPr>
          <p:cNvPr id="16" name="stat value 4"/>
          <p:cNvSpPr txBox="1"/>
          <p:nvPr/>
        </p:nvSpPr>
        <p:spPr>
          <a:xfrm>
            <a:off x="10241280" y="3200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組</a:t>
            </a:r>
            <a:endParaRPr lang="en-US" sz="3000" dirty="0"/>
          </a:p>
        </p:txBody>
      </p:sp>
      <p:sp>
        <p:nvSpPr>
          <p:cNvPr id="17" name="stat label 4"/>
          <p:cNvSpPr txBox="1"/>
          <p:nvPr/>
        </p:nvSpPr>
        <p:spPr>
          <a:xfrm>
            <a:off x="10241280" y="38130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既有座椅移置</a:t>
            </a:r>
            <a:endParaRPr lang="en-US" sz="1200" dirty="0"/>
          </a:p>
        </p:txBody>
      </p:sp>
      <p:sp>
        <p:nvSpPr>
          <p:cNvPr id="18" name="stat card 5"/>
          <p:cNvSpPr/>
          <p:nvPr/>
        </p:nvSpPr>
        <p:spPr>
          <a:xfrm>
            <a:off x="8503920" y="4700016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9" name="stat value 5"/>
          <p:cNvSpPr txBox="1"/>
          <p:nvPr/>
        </p:nvSpPr>
        <p:spPr>
          <a:xfrm>
            <a:off x="8641080" y="48646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55.7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m</a:t>
            </a:r>
            <a:endParaRPr lang="en-US" sz="3000" dirty="0"/>
          </a:p>
        </p:txBody>
      </p:sp>
      <p:sp>
        <p:nvSpPr>
          <p:cNvPr id="20" name="stat label 5"/>
          <p:cNvSpPr txBox="1"/>
          <p:nvPr/>
        </p:nvSpPr>
        <p:spPr>
          <a:xfrm>
            <a:off x="8641080" y="547725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草皮分隔板</a:t>
            </a:r>
            <a:endParaRPr lang="en-US" sz="1200" dirty="0"/>
          </a:p>
        </p:txBody>
      </p:sp>
      <p:sp>
        <p:nvSpPr>
          <p:cNvPr id="21" name="stat card 6"/>
          <p:cNvSpPr/>
          <p:nvPr/>
        </p:nvSpPr>
        <p:spPr>
          <a:xfrm>
            <a:off x="10104120" y="4700016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22" name="stat value 6"/>
          <p:cNvSpPr txBox="1"/>
          <p:nvPr/>
        </p:nvSpPr>
        <p:spPr>
          <a:xfrm>
            <a:off x="10241280" y="48646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株</a:t>
            </a:r>
            <a:endParaRPr lang="en-US" sz="3000" dirty="0"/>
          </a:p>
        </p:txBody>
      </p:sp>
      <p:sp>
        <p:nvSpPr>
          <p:cNvPr id="23" name="stat label 6"/>
          <p:cNvSpPr txBox="1"/>
          <p:nvPr/>
        </p:nvSpPr>
        <p:spPr>
          <a:xfrm>
            <a:off x="10241280" y="547725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保留珍貴樹木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榕樹(編號259)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工區二 兒一公園｜完工成果</a:t>
            </a:r>
            <a:endParaRPr lang="en-US" sz="3200" dirty="0"/>
          </a:p>
        </p:txBody>
      </p:sp>
      <p:pic>
        <p:nvPicPr>
          <p:cNvPr id="3" name="aerial photo" descr="/tmp/claude-0/-home-user-WORK/17061699-df28-586b-9ead-2ea441853089/scratchpad/img/photo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922776"/>
          </a:xfrm>
          <a:prstGeom prst="rect">
            <a:avLst/>
          </a:prstGeom>
        </p:spPr>
      </p:pic>
      <p:sp>
        <p:nvSpPr>
          <p:cNvPr id="4" name="photo caption"/>
          <p:cNvSpPr txBox="1"/>
          <p:nvPr/>
        </p:nvSpPr>
        <p:spPr>
          <a:xfrm>
            <a:off x="548640" y="53949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完工空拍</a:t>
            </a:r>
            <a:endParaRPr lang="en-US" sz="1200" dirty="0"/>
          </a:p>
        </p:txBody>
      </p:sp>
      <p:sp>
        <p:nvSpPr>
          <p:cNvPr id="5" name="works card"/>
          <p:cNvSpPr/>
          <p:nvPr/>
        </p:nvSpPr>
        <p:spPr>
          <a:xfrm>
            <a:off x="7772400" y="1371600"/>
            <a:ext cx="3840480" cy="3922776"/>
          </a:xfrm>
          <a:prstGeom prst="roundRect">
            <a:avLst>
              <a:gd name="adj" fmla="val 4762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6" name="works header"/>
          <p:cNvSpPr txBox="1"/>
          <p:nvPr/>
        </p:nvSpPr>
        <p:spPr>
          <a:xfrm>
            <a:off x="804672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主要施作內容</a:t>
            </a:r>
            <a:endParaRPr lang="en-US" sz="2000" dirty="0"/>
          </a:p>
        </p:txBody>
      </p:sp>
      <p:sp>
        <p:nvSpPr>
          <p:cNvPr id="7" name="num circle 1"/>
          <p:cNvSpPr/>
          <p:nvPr/>
        </p:nvSpPr>
        <p:spPr>
          <a:xfrm>
            <a:off x="8046720" y="21031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num 1"/>
          <p:cNvSpPr txBox="1"/>
          <p:nvPr/>
        </p:nvSpPr>
        <p:spPr>
          <a:xfrm>
            <a:off x="80467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work 1"/>
          <p:cNvSpPr txBox="1"/>
          <p:nvPr/>
        </p:nvSpPr>
        <p:spPr>
          <a:xfrm>
            <a:off x="8641080" y="21031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排水改善</a:t>
            </a:r>
            <a:endParaRPr lang="en-US" sz="1500" dirty="0"/>
          </a:p>
        </p:txBody>
      </p:sp>
      <p:sp>
        <p:nvSpPr>
          <p:cNvPr id="10" name="num circle 2"/>
          <p:cNvSpPr/>
          <p:nvPr/>
        </p:nvSpPr>
        <p:spPr>
          <a:xfrm>
            <a:off x="8046720" y="26243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num 2"/>
          <p:cNvSpPr txBox="1"/>
          <p:nvPr/>
        </p:nvSpPr>
        <p:spPr>
          <a:xfrm>
            <a:off x="804672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work 2"/>
          <p:cNvSpPr txBox="1"/>
          <p:nvPr/>
        </p:nvSpPr>
        <p:spPr>
          <a:xfrm>
            <a:off x="8641080" y="2624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新設休憩廣場</a:t>
            </a:r>
            <a:endParaRPr lang="en-US" sz="1500" dirty="0"/>
          </a:p>
        </p:txBody>
      </p:sp>
      <p:sp>
        <p:nvSpPr>
          <p:cNvPr id="13" name="num circle 3"/>
          <p:cNvSpPr/>
          <p:nvPr/>
        </p:nvSpPr>
        <p:spPr>
          <a:xfrm>
            <a:off x="8046720" y="3145536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num 3"/>
          <p:cNvSpPr txBox="1"/>
          <p:nvPr/>
        </p:nvSpPr>
        <p:spPr>
          <a:xfrm>
            <a:off x="8046720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work 3"/>
          <p:cNvSpPr txBox="1"/>
          <p:nvPr/>
        </p:nvSpPr>
        <p:spPr>
          <a:xfrm>
            <a:off x="8641080" y="314553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增設園內人行步道</a:t>
            </a:r>
            <a:endParaRPr lang="en-US" sz="1500" dirty="0"/>
          </a:p>
        </p:txBody>
      </p:sp>
      <p:sp>
        <p:nvSpPr>
          <p:cNvPr id="16" name="num circle 4"/>
          <p:cNvSpPr/>
          <p:nvPr/>
        </p:nvSpPr>
        <p:spPr>
          <a:xfrm>
            <a:off x="8046720" y="3666744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num 4"/>
          <p:cNvSpPr txBox="1"/>
          <p:nvPr/>
        </p:nvSpPr>
        <p:spPr>
          <a:xfrm>
            <a:off x="804672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work 4"/>
          <p:cNvSpPr txBox="1"/>
          <p:nvPr/>
        </p:nvSpPr>
        <p:spPr>
          <a:xfrm>
            <a:off x="8641080" y="366674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既有綠地整地鋪設草皮</a:t>
            </a:r>
            <a:endParaRPr lang="en-US" sz="1500" dirty="0"/>
          </a:p>
        </p:txBody>
      </p:sp>
      <p:sp>
        <p:nvSpPr>
          <p:cNvPr id="19" name="num circle 5"/>
          <p:cNvSpPr/>
          <p:nvPr/>
        </p:nvSpPr>
        <p:spPr>
          <a:xfrm>
            <a:off x="8046720" y="4187952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num 5"/>
          <p:cNvSpPr txBox="1"/>
          <p:nvPr/>
        </p:nvSpPr>
        <p:spPr>
          <a:xfrm>
            <a:off x="804672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work 5"/>
          <p:cNvSpPr txBox="1"/>
          <p:nvPr/>
        </p:nvSpPr>
        <p:spPr>
          <a:xfrm>
            <a:off x="8641080" y="41879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新植喬木、設置造型座椅</a:t>
            </a:r>
            <a:endParaRPr lang="en-US" sz="1500" dirty="0"/>
          </a:p>
        </p:txBody>
      </p:sp>
      <p:sp>
        <p:nvSpPr>
          <p:cNvPr id="22" name="num circle 6"/>
          <p:cNvSpPr/>
          <p:nvPr/>
        </p:nvSpPr>
        <p:spPr>
          <a:xfrm>
            <a:off x="8046720" y="4709160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3" name="num 6"/>
          <p:cNvSpPr txBox="1"/>
          <p:nvPr/>
        </p:nvSpPr>
        <p:spPr>
          <a:xfrm>
            <a:off x="8046720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24" name="work 6"/>
          <p:cNvSpPr txBox="1"/>
          <p:nvPr/>
        </p:nvSpPr>
        <p:spPr>
          <a:xfrm>
            <a:off x="8641080" y="470916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汲水設施改設造型花台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工區二 兒一公園｜平面配置與施作項目</a:t>
            </a:r>
            <a:endParaRPr lang="en-US" sz="3200" dirty="0"/>
          </a:p>
        </p:txBody>
      </p:sp>
      <p:sp>
        <p:nvSpPr>
          <p:cNvPr id="3" name="plan frame"/>
          <p:cNvSpPr/>
          <p:nvPr/>
        </p:nvSpPr>
        <p:spPr>
          <a:xfrm>
            <a:off x="548640" y="1371600"/>
            <a:ext cx="7680960" cy="4846320"/>
          </a:xfrm>
          <a:prstGeom prst="roundRect">
            <a:avLst>
              <a:gd name="adj" fmla="val 2830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" name="plan caption"/>
          <p:cNvSpPr txBox="1"/>
          <p:nvPr/>
        </p:nvSpPr>
        <p:spPr>
          <a:xfrm>
            <a:off x="731520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平面配置圖（修正版）</a:t>
            </a:r>
            <a:endParaRPr lang="en-US" sz="1200" dirty="0"/>
          </a:p>
        </p:txBody>
      </p:sp>
      <p:pic>
        <p:nvPicPr>
          <p:cNvPr id="5" name="plan drawing" descr="/tmp/claude-0/-home-user-WORK/17061699-df28-586b-9ead-2ea441853089/scratchpad/img/rev-2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31362"/>
            <a:ext cx="7406640" cy="2846836"/>
          </a:xfrm>
          <a:prstGeom prst="rect">
            <a:avLst/>
          </a:prstGeom>
        </p:spPr>
      </p:pic>
      <p:sp>
        <p:nvSpPr>
          <p:cNvPr id="6" name="stat card 1"/>
          <p:cNvSpPr/>
          <p:nvPr/>
        </p:nvSpPr>
        <p:spPr>
          <a:xfrm>
            <a:off x="8503920" y="1371600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4">
              <a:alpha val="35000"/>
            </a:schemeClr>
          </a:solidFill>
          <a:ln/>
        </p:spPr>
      </p:sp>
      <p:sp>
        <p:nvSpPr>
          <p:cNvPr id="7" name="stat value 1"/>
          <p:cNvSpPr txBox="1"/>
          <p:nvPr/>
        </p:nvSpPr>
        <p:spPr>
          <a:xfrm>
            <a:off x="8641080" y="1536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株</a:t>
            </a:r>
            <a:endParaRPr lang="en-US" sz="3000" dirty="0"/>
          </a:p>
        </p:txBody>
      </p:sp>
      <p:sp>
        <p:nvSpPr>
          <p:cNvPr id="8" name="stat label 1"/>
          <p:cNvSpPr txBox="1"/>
          <p:nvPr/>
        </p:nvSpPr>
        <p:spPr>
          <a:xfrm>
            <a:off x="86410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新植喬木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緬梔1、光臘樹3</a:t>
            </a:r>
            <a:endParaRPr lang="en-US" sz="1200" dirty="0"/>
          </a:p>
        </p:txBody>
      </p:sp>
      <p:sp>
        <p:nvSpPr>
          <p:cNvPr id="9" name="stat card 2"/>
          <p:cNvSpPr/>
          <p:nvPr/>
        </p:nvSpPr>
        <p:spPr>
          <a:xfrm>
            <a:off x="10104120" y="1371600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5">
              <a:alpha val="35000"/>
            </a:schemeClr>
          </a:solidFill>
          <a:ln/>
        </p:spPr>
      </p:sp>
      <p:sp>
        <p:nvSpPr>
          <p:cNvPr id="10" name="stat value 2"/>
          <p:cNvSpPr txBox="1"/>
          <p:nvPr/>
        </p:nvSpPr>
        <p:spPr>
          <a:xfrm>
            <a:off x="10241280" y="1536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組</a:t>
            </a:r>
            <a:endParaRPr lang="en-US" sz="3000" dirty="0"/>
          </a:p>
        </p:txBody>
      </p:sp>
      <p:sp>
        <p:nvSpPr>
          <p:cNvPr id="11" name="stat label 2"/>
          <p:cNvSpPr txBox="1"/>
          <p:nvPr/>
        </p:nvSpPr>
        <p:spPr>
          <a:xfrm>
            <a:off x="10241280" y="21488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新設造型座椅</a:t>
            </a:r>
            <a:endParaRPr lang="en-US" sz="1200" dirty="0"/>
          </a:p>
        </p:txBody>
      </p:sp>
      <p:sp>
        <p:nvSpPr>
          <p:cNvPr id="12" name="stat card 3"/>
          <p:cNvSpPr/>
          <p:nvPr/>
        </p:nvSpPr>
        <p:spPr>
          <a:xfrm>
            <a:off x="8503920" y="3035808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6">
              <a:alpha val="35000"/>
            </a:schemeClr>
          </a:solidFill>
          <a:ln/>
        </p:spPr>
      </p:sp>
      <p:sp>
        <p:nvSpPr>
          <p:cNvPr id="13" name="stat value 3"/>
          <p:cNvSpPr txBox="1"/>
          <p:nvPr/>
        </p:nvSpPr>
        <p:spPr>
          <a:xfrm>
            <a:off x="8641080" y="3200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座</a:t>
            </a:r>
            <a:endParaRPr lang="en-US" sz="3000" dirty="0"/>
          </a:p>
        </p:txBody>
      </p:sp>
      <p:sp>
        <p:nvSpPr>
          <p:cNvPr id="14" name="stat label 3"/>
          <p:cNvSpPr txBox="1"/>
          <p:nvPr/>
        </p:nvSpPr>
        <p:spPr>
          <a:xfrm>
            <a:off x="8641080" y="38130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清水磚造型花台</a:t>
            </a:r>
            <a:endParaRPr lang="en-US" sz="1200" dirty="0"/>
          </a:p>
        </p:txBody>
      </p:sp>
      <p:sp>
        <p:nvSpPr>
          <p:cNvPr id="15" name="stat card 4"/>
          <p:cNvSpPr/>
          <p:nvPr/>
        </p:nvSpPr>
        <p:spPr>
          <a:xfrm>
            <a:off x="10104120" y="3035808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16" name="stat value 4"/>
          <p:cNvSpPr txBox="1"/>
          <p:nvPr/>
        </p:nvSpPr>
        <p:spPr>
          <a:xfrm>
            <a:off x="10241280" y="3200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式</a:t>
            </a:r>
            <a:endParaRPr lang="en-US" sz="3000" dirty="0"/>
          </a:p>
        </p:txBody>
      </p:sp>
      <p:sp>
        <p:nvSpPr>
          <p:cNvPr id="17" name="stat label 4"/>
          <p:cNvSpPr txBox="1"/>
          <p:nvPr/>
        </p:nvSpPr>
        <p:spPr>
          <a:xfrm>
            <a:off x="10241280" y="38130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樹穴系統</a:t>
            </a:r>
            <a:endParaRPr lang="en-US" sz="1200" dirty="0"/>
          </a:p>
        </p:txBody>
      </p:sp>
      <p:sp>
        <p:nvSpPr>
          <p:cNvPr id="18" name="stat card 5"/>
          <p:cNvSpPr/>
          <p:nvPr/>
        </p:nvSpPr>
        <p:spPr>
          <a:xfrm>
            <a:off x="8503920" y="4700016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9" name="stat value 5"/>
          <p:cNvSpPr txBox="1"/>
          <p:nvPr/>
        </p:nvSpPr>
        <p:spPr>
          <a:xfrm>
            <a:off x="8641080" y="48646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型</a:t>
            </a:r>
            <a:endParaRPr lang="en-US" sz="3000" dirty="0"/>
          </a:p>
        </p:txBody>
      </p:sp>
      <p:sp>
        <p:nvSpPr>
          <p:cNvPr id="20" name="stat label 5"/>
          <p:cNvSpPr txBox="1"/>
          <p:nvPr/>
        </p:nvSpPr>
        <p:spPr>
          <a:xfrm>
            <a:off x="8641080" y="547725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新設木圍籬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TYPE-A/B/C</a:t>
            </a:r>
            <a:endParaRPr lang="en-US" sz="1200" dirty="0"/>
          </a:p>
        </p:txBody>
      </p:sp>
      <p:sp>
        <p:nvSpPr>
          <p:cNvPr id="21" name="stat card 6"/>
          <p:cNvSpPr/>
          <p:nvPr/>
        </p:nvSpPr>
        <p:spPr>
          <a:xfrm>
            <a:off x="10104120" y="4700016"/>
            <a:ext cx="1463040" cy="1481328"/>
          </a:xfrm>
          <a:prstGeom prst="roundRect">
            <a:avLst>
              <a:gd name="adj" fmla="val 9375"/>
            </a:avLst>
          </a:prstGeom>
          <a:solidFill>
            <a:schemeClr val="accent3">
              <a:alpha val="35000"/>
            </a:schemeClr>
          </a:solidFill>
          <a:ln/>
        </p:spPr>
      </p:sp>
      <p:sp>
        <p:nvSpPr>
          <p:cNvPr id="22" name="stat value 6"/>
          <p:cNvSpPr txBox="1"/>
          <p:nvPr/>
        </p:nvSpPr>
        <p:spPr>
          <a:xfrm>
            <a:off x="10241280" y="48646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處</a:t>
            </a:r>
            <a:endParaRPr lang="en-US" sz="3000" dirty="0"/>
          </a:p>
        </p:txBody>
      </p:sp>
      <p:sp>
        <p:nvSpPr>
          <p:cNvPr id="23" name="stat label 6"/>
          <p:cNvSpPr txBox="1"/>
          <p:nvPr/>
        </p:nvSpPr>
        <p:spPr>
          <a:xfrm>
            <a:off x="10241280" y="547725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體健區混凝土地坪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bble 1"/>
          <p:cNvSpPr/>
          <p:nvPr/>
        </p:nvSpPr>
        <p:spPr>
          <a:xfrm>
            <a:off x="6949440" y="-731520"/>
            <a:ext cx="2377440" cy="2377440"/>
          </a:xfrm>
          <a:prstGeom prst="ellipse">
            <a:avLst/>
          </a:prstGeom>
          <a:solidFill>
            <a:schemeClr val="accent2">
              <a:alpha val="80000"/>
            </a:schemeClr>
          </a:solidFill>
          <a:ln/>
        </p:spPr>
      </p:sp>
      <p:sp>
        <p:nvSpPr>
          <p:cNvPr id="3" name="bubble 2"/>
          <p:cNvSpPr/>
          <p:nvPr/>
        </p:nvSpPr>
        <p:spPr>
          <a:xfrm>
            <a:off x="6309360" y="5120640"/>
            <a:ext cx="1645920" cy="1645920"/>
          </a:xfrm>
          <a:prstGeom prst="ellipse">
            <a:avLst/>
          </a:prstGeom>
          <a:solidFill>
            <a:schemeClr val="accent3">
              <a:alpha val="80000"/>
            </a:schemeClr>
          </a:solidFill>
          <a:ln/>
        </p:spPr>
      </p:sp>
      <p:sp>
        <p:nvSpPr>
          <p:cNvPr id="4" name="photo frame"/>
          <p:cNvSpPr/>
          <p:nvPr/>
        </p:nvSpPr>
        <p:spPr>
          <a:xfrm>
            <a:off x="7498080" y="822960"/>
            <a:ext cx="4114800" cy="52120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C3A6FF">
                <a:alpha val="35000"/>
              </a:srgbClr>
            </a:outerShdw>
          </a:effectLst>
        </p:spPr>
      </p:sp>
      <p:pic>
        <p:nvPicPr>
          <p:cNvPr id="5" name="photo" descr="/tmp/claude-0/-home-user-WORK/17061699-df28-586b-9ead-2ea441853089/scratchpad/img/photo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1005840"/>
            <a:ext cx="3749040" cy="4846320"/>
          </a:xfrm>
          <a:prstGeom prst="rect">
            <a:avLst/>
          </a:prstGeom>
        </p:spPr>
      </p:pic>
      <p:sp>
        <p:nvSpPr>
          <p:cNvPr id="6" name="bubbl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bubble 2"/>
          <p:cNvSpPr/>
          <p:nvPr/>
        </p:nvSpPr>
        <p:spPr>
          <a:xfrm>
            <a:off x="5303520" y="5852160"/>
            <a:ext cx="1097280" cy="1097280"/>
          </a:xfrm>
          <a:prstGeom prst="ellipse">
            <a:avLst/>
          </a:prstGeom>
          <a:solidFill>
            <a:schemeClr val="accent1">
              <a:alpha val="70000"/>
            </a:schemeClr>
          </a:solidFill>
          <a:ln/>
        </p:spPr>
      </p:sp>
      <p:sp>
        <p:nvSpPr>
          <p:cNvPr id="8" name="Text 0"/>
          <p:cNvSpPr/>
          <p:nvPr>
            <p:ph idx="100" type="title" hasCustomPrompt="1"/>
          </p:nvPr>
        </p:nvSpPr>
        <p:spPr>
          <a:xfrm>
            <a:off x="640080" y="20116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完工效益</a:t>
            </a:r>
            <a:endParaRPr lang="en-US" sz="3600" dirty="0"/>
          </a:p>
        </p:txBody>
      </p:sp>
      <p:sp>
        <p:nvSpPr>
          <p:cNvPr id="9" name="benefit pill 1"/>
          <p:cNvSpPr/>
          <p:nvPr/>
        </p:nvSpPr>
        <p:spPr>
          <a:xfrm>
            <a:off x="640080" y="3090672"/>
            <a:ext cx="118872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benefit tag 1"/>
          <p:cNvSpPr txBox="1"/>
          <p:nvPr/>
        </p:nvSpPr>
        <p:spPr>
          <a:xfrm>
            <a:off x="640080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排水順暢</a:t>
            </a:r>
            <a:endParaRPr lang="en-US" sz="1500" dirty="0"/>
          </a:p>
        </p:txBody>
      </p:sp>
      <p:sp>
        <p:nvSpPr>
          <p:cNvPr id="11" name="benefit 1"/>
          <p:cNvSpPr txBox="1"/>
          <p:nvPr/>
        </p:nvSpPr>
        <p:spPr>
          <a:xfrm>
            <a:off x="2011680" y="3017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新設排水溝、透水管與陰井，改善園內積水</a:t>
            </a:r>
            <a:endParaRPr lang="en-US" sz="1600" dirty="0"/>
          </a:p>
        </p:txBody>
      </p:sp>
      <p:sp>
        <p:nvSpPr>
          <p:cNvPr id="12" name="benefit pill 2"/>
          <p:cNvSpPr/>
          <p:nvPr/>
        </p:nvSpPr>
        <p:spPr>
          <a:xfrm>
            <a:off x="640080" y="3867912"/>
            <a:ext cx="118872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benefit tag 2"/>
          <p:cNvSpPr txBox="1"/>
          <p:nvPr/>
        </p:nvSpPr>
        <p:spPr>
          <a:xfrm>
            <a:off x="640080" y="38679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休憩空間</a:t>
            </a:r>
            <a:endParaRPr lang="en-US" sz="1500" dirty="0"/>
          </a:p>
        </p:txBody>
      </p:sp>
      <p:sp>
        <p:nvSpPr>
          <p:cNvPr id="14" name="benefit 2"/>
          <p:cNvSpPr txBox="1"/>
          <p:nvPr/>
        </p:nvSpPr>
        <p:spPr>
          <a:xfrm>
            <a:off x="201168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新設休憩廣場與座椅，提供民眾停留使用</a:t>
            </a:r>
            <a:endParaRPr lang="en-US" sz="1600" dirty="0"/>
          </a:p>
        </p:txBody>
      </p:sp>
      <p:sp>
        <p:nvSpPr>
          <p:cNvPr id="15" name="benefit pill 3"/>
          <p:cNvSpPr/>
          <p:nvPr/>
        </p:nvSpPr>
        <p:spPr>
          <a:xfrm>
            <a:off x="640080" y="4645152"/>
            <a:ext cx="118872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6" name="benefit tag 3"/>
          <p:cNvSpPr txBox="1"/>
          <p:nvPr/>
        </p:nvSpPr>
        <p:spPr>
          <a:xfrm>
            <a:off x="640080" y="46451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通行友善</a:t>
            </a:r>
            <a:endParaRPr lang="en-US" sz="1500" dirty="0"/>
          </a:p>
        </p:txBody>
      </p:sp>
      <p:sp>
        <p:nvSpPr>
          <p:cNvPr id="17" name="benefit 3"/>
          <p:cNvSpPr txBox="1"/>
          <p:nvPr/>
        </p:nvSpPr>
        <p:spPr>
          <a:xfrm>
            <a:off x="201168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拓寬及增設人行步道，動線更安全平順</a:t>
            </a:r>
            <a:endParaRPr lang="en-US" sz="1600" dirty="0"/>
          </a:p>
        </p:txBody>
      </p:sp>
      <p:sp>
        <p:nvSpPr>
          <p:cNvPr id="18" name="benefit pill 4"/>
          <p:cNvSpPr/>
          <p:nvPr/>
        </p:nvSpPr>
        <p:spPr>
          <a:xfrm>
            <a:off x="640080" y="5422392"/>
            <a:ext cx="1188720" cy="4023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9" name="benefit tag 4"/>
          <p:cNvSpPr txBox="1"/>
          <p:nvPr/>
        </p:nvSpPr>
        <p:spPr>
          <a:xfrm>
            <a:off x="640080" y="54223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綠意運動</a:t>
            </a:r>
            <a:endParaRPr lang="en-US" sz="1500" dirty="0"/>
          </a:p>
        </p:txBody>
      </p:sp>
      <p:sp>
        <p:nvSpPr>
          <p:cNvPr id="20" name="benefit 4"/>
          <p:cNvSpPr txBox="1"/>
          <p:nvPr/>
        </p:nvSpPr>
        <p:spPr>
          <a:xfrm>
            <a:off x="201168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整地鋪設草皮、新植喬木、增設及更新體健設施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640080" y="4023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pamine Pastel">
  <a:themeElements>
    <a:clrScheme name="Dopamine Pastel">
      <a:dk1>
        <a:srgbClr val="3A3150"/>
      </a:dk1>
      <a:lt1>
        <a:srgbClr val="FFFFFF"/>
      </a:lt1>
      <a:dk2>
        <a:srgbClr val="5B3F8C"/>
      </a:dk2>
      <a:lt2>
        <a:srgbClr val="FFF0F6"/>
      </a:lt2>
      <a:accent1>
        <a:srgbClr val="FF8FB1"/>
      </a:accent1>
      <a:accent2>
        <a:srgbClr val="FFD166"/>
      </a:accent2>
      <a:accent3>
        <a:srgbClr val="7FD8BE"/>
      </a:accent3>
      <a:accent4>
        <a:srgbClr val="8EC5FF"/>
      </a:accent4>
      <a:accent5>
        <a:srgbClr val="C3A6FF"/>
      </a:accent5>
      <a:accent6>
        <a:srgbClr val="FFB38A"/>
      </a:accent6>
      <a:hlink>
        <a:srgbClr val="5B3F8C"/>
      </a:hlink>
      <a:folHlink>
        <a:srgbClr val="C3A6FF"/>
      </a:folHlink>
    </a:clrScheme>
    <a:fontScheme name="Dopamine Pastel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115年度蘆洲區公園廣場基礎設施整建工程 完工成果說明</dc:title>
  <dc:subject>PptxGenJS Presentation</dc:subject>
  <dc:creator>新北市蘆洲區公所</dc:creator>
  <cp:lastModifiedBy>新北市蘆洲區公所</cp:lastModifiedBy>
  <cp:revision>1</cp:revision>
  <dcterms:created xsi:type="dcterms:W3CDTF">2026-10-20T09:13:52Z</dcterms:created>
  <dcterms:modified xsi:type="dcterms:W3CDTF">2026-10-20T09:13:52Z</dcterms:modified>
</cp:coreProperties>
</file>