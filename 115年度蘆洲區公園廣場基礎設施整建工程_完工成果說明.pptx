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184b102e-45fe-6db8-d19b-34fc14b082da}">
          <p14:sldIdLst>
            <p14:sldId id="256"/>
          </p14:sldIdLst>
        </p14:section>
        <p14:section name="工程概要" id="{22e87643-cfcf-0428-48e1-19c3c5af2218}">
          <p14:sldIdLst>
            <p14:sldId id="257"/>
          </p14:sldIdLst>
        </p14:section>
        <p14:section name="工區一 永安兒童公園" id="{462c718e-b74f-e149-ab1f-e62e42ecdde9}">
          <p14:sldIdLst>
            <p14:sldId id="258"/>
            <p14:sldId id="259"/>
          </p14:sldIdLst>
        </p14:section>
        <p14:section name="工區二 兒一公園" id="{f13dc26b-7def-5315-0830-d25c9cbc5b1a}">
          <p14:sldIdLst>
            <p14:sldId id="260"/>
            <p14:sldId id="261"/>
          </p14:sldIdLst>
        </p14:section>
        <p14:section name="完工效益" id="{6639e7be-1746-8658-58b2-4a8caf0a47f8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4023360"/>
            <a:ext cx="65836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/tmp/claude-0/-home-user-WORK/17061699-df28-586b-9ead-2ea441853089/scratchpad/img/photo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0" y="0"/>
            <a:ext cx="45079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完工成果說明</a:t>
            </a:r>
            <a:endParaRPr lang="en-US" sz="18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201168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115年度蘆洲區公園廣場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基礎設施整建工程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402336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永安兒童公園、兒一公園及仁愛廣場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主辦機關｜新北市蘆洲區公所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工程概要</a:t>
            </a:r>
            <a:endParaRPr lang="en-US" sz="3200" dirty="0"/>
          </a:p>
        </p:txBody>
      </p:sp>
      <p:sp>
        <p:nvSpPr>
          <p:cNvPr id="3" name="工區一 card"/>
          <p:cNvSpPr/>
          <p:nvPr/>
        </p:nvSpPr>
        <p:spPr>
          <a:xfrm>
            <a:off x="548640" y="1371600"/>
            <a:ext cx="534924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/>
        </p:spPr>
      </p:sp>
      <p:pic>
        <p:nvPicPr>
          <p:cNvPr id="4" name="工區一 photo" descr="/tmp/claude-0/-home-user-WORK/17061699-df28-586b-9ead-2ea441853089/scratchpad/img/photo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600200"/>
            <a:ext cx="4892040" cy="2743200"/>
          </a:xfrm>
          <a:prstGeom prst="rect">
            <a:avLst/>
          </a:prstGeom>
        </p:spPr>
      </p:pic>
      <p:sp>
        <p:nvSpPr>
          <p:cNvPr id="5" name="工區一 name"/>
          <p:cNvSpPr txBox="1"/>
          <p:nvPr/>
        </p:nvSpPr>
        <p:spPr>
          <a:xfrm>
            <a:off x="777240" y="45262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工區一  </a:t>
            </a:r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永安兒童公園</a:t>
            </a:r>
            <a:endParaRPr lang="en-US" sz="1600" dirty="0"/>
          </a:p>
        </p:txBody>
      </p:sp>
      <p:sp>
        <p:nvSpPr>
          <p:cNvPr id="6" name="工區一 items"/>
          <p:cNvSpPr txBox="1"/>
          <p:nvPr/>
        </p:nvSpPr>
        <p:spPr>
          <a:xfrm>
            <a:off x="777240" y="502920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排水改善、新設休憩廣場、拓寬人行步道、增設及更新體健設施、綠地整地鋪設草皮</a:t>
            </a:r>
            <a:endParaRPr lang="en-US" sz="1400" dirty="0"/>
          </a:p>
        </p:txBody>
      </p:sp>
      <p:sp>
        <p:nvSpPr>
          <p:cNvPr id="7" name="工區一 duration"/>
          <p:cNvSpPr txBox="1"/>
          <p:nvPr/>
        </p:nvSpPr>
        <p:spPr>
          <a:xfrm>
            <a:off x="777240" y="576072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工期 45 日曆天</a:t>
            </a:r>
            <a:endParaRPr lang="en-US" sz="1200" dirty="0"/>
          </a:p>
        </p:txBody>
      </p:sp>
      <p:sp>
        <p:nvSpPr>
          <p:cNvPr id="8" name="工區二 card"/>
          <p:cNvSpPr/>
          <p:nvPr/>
        </p:nvSpPr>
        <p:spPr>
          <a:xfrm>
            <a:off x="6263640" y="1371600"/>
            <a:ext cx="534924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/>
        </p:spPr>
      </p:sp>
      <p:pic>
        <p:nvPicPr>
          <p:cNvPr id="9" name="工區二 photo" descr="/tmp/claude-0/-home-user-WORK/17061699-df28-586b-9ead-2ea441853089/scratchpad/img/photo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1600200"/>
            <a:ext cx="4892040" cy="2743200"/>
          </a:xfrm>
          <a:prstGeom prst="rect">
            <a:avLst/>
          </a:prstGeom>
        </p:spPr>
      </p:pic>
      <p:sp>
        <p:nvSpPr>
          <p:cNvPr id="10" name="工區二 name"/>
          <p:cNvSpPr txBox="1"/>
          <p:nvPr/>
        </p:nvSpPr>
        <p:spPr>
          <a:xfrm>
            <a:off x="6492240" y="45262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工區二  </a:t>
            </a:r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兒一公園</a:t>
            </a:r>
            <a:endParaRPr lang="en-US" sz="1600" dirty="0"/>
          </a:p>
        </p:txBody>
      </p:sp>
      <p:sp>
        <p:nvSpPr>
          <p:cNvPr id="11" name="工區二 items"/>
          <p:cNvSpPr txBox="1"/>
          <p:nvPr/>
        </p:nvSpPr>
        <p:spPr>
          <a:xfrm>
            <a:off x="6492240" y="502920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排水改善、新設休憩廣場、增設人行步道、綠地整地鋪設草皮</a:t>
            </a:r>
            <a:endParaRPr lang="en-US" sz="1400" dirty="0"/>
          </a:p>
        </p:txBody>
      </p:sp>
      <p:sp>
        <p:nvSpPr>
          <p:cNvPr id="12" name="工區二 duration"/>
          <p:cNvSpPr txBox="1"/>
          <p:nvPr/>
        </p:nvSpPr>
        <p:spPr>
          <a:xfrm>
            <a:off x="6492240" y="576072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工期 45 日曆天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工區一 永安兒童公園｜完工成果</a:t>
            </a:r>
            <a:endParaRPr lang="en-US" sz="3200" dirty="0"/>
          </a:p>
        </p:txBody>
      </p:sp>
      <p:pic>
        <p:nvPicPr>
          <p:cNvPr id="3" name="aerial photo" descr="/tmp/claude-0/-home-user-WORK/17061699-df28-586b-9ead-2ea441853089/scratchpad/img/photo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3922776"/>
          </a:xfrm>
          <a:prstGeom prst="rect">
            <a:avLst/>
          </a:prstGeom>
        </p:spPr>
      </p:pic>
      <p:sp>
        <p:nvSpPr>
          <p:cNvPr id="4" name="photo caption"/>
          <p:cNvSpPr txBox="1"/>
          <p:nvPr/>
        </p:nvSpPr>
        <p:spPr>
          <a:xfrm>
            <a:off x="548640" y="53949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完工空拍</a:t>
            </a:r>
            <a:endParaRPr lang="en-US" sz="1200" dirty="0"/>
          </a:p>
        </p:txBody>
      </p:sp>
      <p:sp>
        <p:nvSpPr>
          <p:cNvPr id="5" name="works header"/>
          <p:cNvSpPr txBox="1"/>
          <p:nvPr/>
        </p:nvSpPr>
        <p:spPr>
          <a:xfrm>
            <a:off x="7955280" y="1371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主要施作內容</a:t>
            </a:r>
            <a:endParaRPr lang="en-US" sz="2000" dirty="0"/>
          </a:p>
        </p:txBody>
      </p:sp>
      <p:sp>
        <p:nvSpPr>
          <p:cNvPr id="6" name="num circle 1"/>
          <p:cNvSpPr/>
          <p:nvPr/>
        </p:nvSpPr>
        <p:spPr>
          <a:xfrm>
            <a:off x="7955280" y="19659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num 1"/>
          <p:cNvSpPr txBox="1"/>
          <p:nvPr/>
        </p:nvSpPr>
        <p:spPr>
          <a:xfrm>
            <a:off x="7955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work 1"/>
          <p:cNvSpPr txBox="1"/>
          <p:nvPr/>
        </p:nvSpPr>
        <p:spPr>
          <a:xfrm>
            <a:off x="8595360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排水改善</a:t>
            </a:r>
            <a:endParaRPr lang="en-US" sz="1600" dirty="0"/>
          </a:p>
        </p:txBody>
      </p:sp>
      <p:sp>
        <p:nvSpPr>
          <p:cNvPr id="9" name="num circle 2"/>
          <p:cNvSpPr/>
          <p:nvPr/>
        </p:nvSpPr>
        <p:spPr>
          <a:xfrm>
            <a:off x="7955280" y="26791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num 2"/>
          <p:cNvSpPr txBox="1"/>
          <p:nvPr/>
        </p:nvSpPr>
        <p:spPr>
          <a:xfrm>
            <a:off x="795528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work 2"/>
          <p:cNvSpPr txBox="1"/>
          <p:nvPr/>
        </p:nvSpPr>
        <p:spPr>
          <a:xfrm>
            <a:off x="8595360" y="26791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新設休憩廣場</a:t>
            </a:r>
            <a:endParaRPr lang="en-US" sz="1600" dirty="0"/>
          </a:p>
        </p:txBody>
      </p:sp>
      <p:sp>
        <p:nvSpPr>
          <p:cNvPr id="12" name="num circle 3"/>
          <p:cNvSpPr/>
          <p:nvPr/>
        </p:nvSpPr>
        <p:spPr>
          <a:xfrm>
            <a:off x="7955280" y="339242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num 3"/>
          <p:cNvSpPr txBox="1"/>
          <p:nvPr/>
        </p:nvSpPr>
        <p:spPr>
          <a:xfrm>
            <a:off x="7955280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work 3"/>
          <p:cNvSpPr txBox="1"/>
          <p:nvPr/>
        </p:nvSpPr>
        <p:spPr>
          <a:xfrm>
            <a:off x="8595360" y="33924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拓寬園內人行步道</a:t>
            </a:r>
            <a:endParaRPr lang="en-US" sz="1600" dirty="0"/>
          </a:p>
        </p:txBody>
      </p:sp>
      <p:sp>
        <p:nvSpPr>
          <p:cNvPr id="15" name="num circle 4"/>
          <p:cNvSpPr/>
          <p:nvPr/>
        </p:nvSpPr>
        <p:spPr>
          <a:xfrm>
            <a:off x="7955280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num 4"/>
          <p:cNvSpPr txBox="1"/>
          <p:nvPr/>
        </p:nvSpPr>
        <p:spPr>
          <a:xfrm>
            <a:off x="795528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work 4"/>
          <p:cNvSpPr txBox="1"/>
          <p:nvPr/>
        </p:nvSpPr>
        <p:spPr>
          <a:xfrm>
            <a:off x="8595360" y="410565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增設及更新既有體健設施</a:t>
            </a:r>
            <a:endParaRPr lang="en-US" sz="1600" dirty="0"/>
          </a:p>
        </p:txBody>
      </p:sp>
      <p:sp>
        <p:nvSpPr>
          <p:cNvPr id="18" name="num circle 5"/>
          <p:cNvSpPr/>
          <p:nvPr/>
        </p:nvSpPr>
        <p:spPr>
          <a:xfrm>
            <a:off x="7955280" y="48188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num 5"/>
          <p:cNvSpPr txBox="1"/>
          <p:nvPr/>
        </p:nvSpPr>
        <p:spPr>
          <a:xfrm>
            <a:off x="795528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0" name="work 5"/>
          <p:cNvSpPr txBox="1"/>
          <p:nvPr/>
        </p:nvSpPr>
        <p:spPr>
          <a:xfrm>
            <a:off x="8595360" y="48188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既有綠地整地鋪設草皮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工區一 永安兒童公園｜平面配置與施作數量</a:t>
            </a:r>
            <a:endParaRPr lang="en-US" sz="3200" dirty="0"/>
          </a:p>
        </p:txBody>
      </p:sp>
      <p:sp>
        <p:nvSpPr>
          <p:cNvPr id="3" name="plan frame"/>
          <p:cNvSpPr/>
          <p:nvPr/>
        </p:nvSpPr>
        <p:spPr>
          <a:xfrm>
            <a:off x="548640" y="1371600"/>
            <a:ext cx="7498080" cy="4846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plan drawing" descr="/tmp/claude-0/-home-user-WORK/17061699-df28-586b-9ead-2ea441853089/scratchpad/img/d-1-pl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94560"/>
            <a:ext cx="7315200" cy="3310128"/>
          </a:xfrm>
          <a:prstGeom prst="rect">
            <a:avLst/>
          </a:prstGeom>
        </p:spPr>
      </p:pic>
      <p:sp>
        <p:nvSpPr>
          <p:cNvPr id="5" name="plan caption"/>
          <p:cNvSpPr txBox="1"/>
          <p:nvPr/>
        </p:nvSpPr>
        <p:spPr>
          <a:xfrm>
            <a:off x="68580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平面配置示意圖</a:t>
            </a:r>
            <a:endParaRPr lang="en-US" sz="1200" dirty="0"/>
          </a:p>
        </p:txBody>
      </p:sp>
      <p:sp>
        <p:nvSpPr>
          <p:cNvPr id="6" name="stat card 1"/>
          <p:cNvSpPr/>
          <p:nvPr/>
        </p:nvSpPr>
        <p:spPr>
          <a:xfrm>
            <a:off x="8412480" y="1371600"/>
            <a:ext cx="15544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7" name="stat value 1"/>
          <p:cNvSpPr txBox="1"/>
          <p:nvPr/>
        </p:nvSpPr>
        <p:spPr>
          <a:xfrm>
            <a:off x="8522208" y="148132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247.2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 m²</a:t>
            </a:r>
            <a:endParaRPr lang="en-US" sz="2600" dirty="0"/>
          </a:p>
        </p:txBody>
      </p:sp>
      <p:sp>
        <p:nvSpPr>
          <p:cNvPr id="8" name="stat label 1"/>
          <p:cNvSpPr txBox="1"/>
          <p:nvPr/>
        </p:nvSpPr>
        <p:spPr>
          <a:xfrm>
            <a:off x="8522208" y="2011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混凝土地坪</a:t>
            </a:r>
            <a:endParaRPr lang="en-US" sz="1200" dirty="0"/>
          </a:p>
        </p:txBody>
      </p:sp>
      <p:sp>
        <p:nvSpPr>
          <p:cNvPr id="9" name="stat card 2"/>
          <p:cNvSpPr/>
          <p:nvPr/>
        </p:nvSpPr>
        <p:spPr>
          <a:xfrm>
            <a:off x="10104120" y="1371600"/>
            <a:ext cx="15544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10" name="stat value 2"/>
          <p:cNvSpPr txBox="1"/>
          <p:nvPr/>
        </p:nvSpPr>
        <p:spPr>
          <a:xfrm>
            <a:off x="10213848" y="148132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204.6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 m²</a:t>
            </a:r>
            <a:endParaRPr lang="en-US" sz="2600" dirty="0"/>
          </a:p>
        </p:txBody>
      </p:sp>
      <p:sp>
        <p:nvSpPr>
          <p:cNvPr id="11" name="stat label 2"/>
          <p:cNvSpPr txBox="1"/>
          <p:nvPr/>
        </p:nvSpPr>
        <p:spPr>
          <a:xfrm>
            <a:off x="10213848" y="2011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鋪設草皮</a:t>
            </a:r>
            <a:endParaRPr lang="en-US" sz="1200" dirty="0"/>
          </a:p>
        </p:txBody>
      </p:sp>
      <p:sp>
        <p:nvSpPr>
          <p:cNvPr id="12" name="stat card 3"/>
          <p:cNvSpPr/>
          <p:nvPr/>
        </p:nvSpPr>
        <p:spPr>
          <a:xfrm>
            <a:off x="8412480" y="2633472"/>
            <a:ext cx="15544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13" name="stat value 3"/>
          <p:cNvSpPr txBox="1"/>
          <p:nvPr/>
        </p:nvSpPr>
        <p:spPr>
          <a:xfrm>
            <a:off x="8522208" y="27432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190.1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 m²</a:t>
            </a:r>
            <a:endParaRPr lang="en-US" sz="2600" dirty="0"/>
          </a:p>
        </p:txBody>
      </p:sp>
      <p:sp>
        <p:nvSpPr>
          <p:cNvPr id="14" name="stat label 3"/>
          <p:cNvSpPr txBox="1"/>
          <p:nvPr/>
        </p:nvSpPr>
        <p:spPr>
          <a:xfrm>
            <a:off x="8522208" y="32735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鬆散材(清碎石)</a:t>
            </a:r>
            <a:endParaRPr lang="en-US" sz="1200" dirty="0"/>
          </a:p>
        </p:txBody>
      </p:sp>
      <p:sp>
        <p:nvSpPr>
          <p:cNvPr id="15" name="stat card 4"/>
          <p:cNvSpPr/>
          <p:nvPr/>
        </p:nvSpPr>
        <p:spPr>
          <a:xfrm>
            <a:off x="10104120" y="2633472"/>
            <a:ext cx="15544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16" name="stat value 4"/>
          <p:cNvSpPr txBox="1"/>
          <p:nvPr/>
        </p:nvSpPr>
        <p:spPr>
          <a:xfrm>
            <a:off x="10213848" y="27432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94.2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 m</a:t>
            </a:r>
            <a:endParaRPr lang="en-US" sz="2600" dirty="0"/>
          </a:p>
        </p:txBody>
      </p:sp>
      <p:sp>
        <p:nvSpPr>
          <p:cNvPr id="17" name="stat label 4"/>
          <p:cNvSpPr txBox="1"/>
          <p:nvPr/>
        </p:nvSpPr>
        <p:spPr>
          <a:xfrm>
            <a:off x="10213848" y="32735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新設排水溝</a:t>
            </a:r>
            <a:endParaRPr lang="en-US" sz="1200" dirty="0"/>
          </a:p>
        </p:txBody>
      </p:sp>
      <p:sp>
        <p:nvSpPr>
          <p:cNvPr id="18" name="stat card 5"/>
          <p:cNvSpPr/>
          <p:nvPr/>
        </p:nvSpPr>
        <p:spPr>
          <a:xfrm>
            <a:off x="8412480" y="3895344"/>
            <a:ext cx="15544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19" name="stat value 5"/>
          <p:cNvSpPr txBox="1"/>
          <p:nvPr/>
        </p:nvSpPr>
        <p:spPr>
          <a:xfrm>
            <a:off x="8522208" y="400507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 座</a:t>
            </a:r>
            <a:endParaRPr lang="en-US" sz="2600" dirty="0"/>
          </a:p>
        </p:txBody>
      </p:sp>
      <p:sp>
        <p:nvSpPr>
          <p:cNvPr id="20" name="stat label 5"/>
          <p:cNvSpPr txBox="1"/>
          <p:nvPr/>
        </p:nvSpPr>
        <p:spPr>
          <a:xfrm>
            <a:off x="8522208" y="45354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新設陰井</a:t>
            </a:r>
            <a:endParaRPr lang="en-US" sz="1200" dirty="0"/>
          </a:p>
        </p:txBody>
      </p:sp>
      <p:sp>
        <p:nvSpPr>
          <p:cNvPr id="21" name="stat card 6"/>
          <p:cNvSpPr/>
          <p:nvPr/>
        </p:nvSpPr>
        <p:spPr>
          <a:xfrm>
            <a:off x="10104120" y="3895344"/>
            <a:ext cx="15544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22" name="stat value 6"/>
          <p:cNvSpPr txBox="1"/>
          <p:nvPr/>
        </p:nvSpPr>
        <p:spPr>
          <a:xfrm>
            <a:off x="10213848" y="400507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90.8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 m</a:t>
            </a:r>
            <a:endParaRPr lang="en-US" sz="2600" dirty="0"/>
          </a:p>
        </p:txBody>
      </p:sp>
      <p:sp>
        <p:nvSpPr>
          <p:cNvPr id="23" name="stat label 6"/>
          <p:cNvSpPr txBox="1"/>
          <p:nvPr/>
        </p:nvSpPr>
        <p:spPr>
          <a:xfrm>
            <a:off x="10213848" y="45354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界石</a:t>
            </a:r>
            <a:endParaRPr lang="en-US" sz="1200" dirty="0"/>
          </a:p>
        </p:txBody>
      </p:sp>
      <p:sp>
        <p:nvSpPr>
          <p:cNvPr id="24" name="stat card 7"/>
          <p:cNvSpPr/>
          <p:nvPr/>
        </p:nvSpPr>
        <p:spPr>
          <a:xfrm>
            <a:off x="8412480" y="5157216"/>
            <a:ext cx="15544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25" name="stat value 7"/>
          <p:cNvSpPr txBox="1"/>
          <p:nvPr/>
        </p:nvSpPr>
        <p:spPr>
          <a:xfrm>
            <a:off x="8522208" y="526694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6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 組</a:t>
            </a:r>
            <a:endParaRPr lang="en-US" sz="2600" dirty="0"/>
          </a:p>
        </p:txBody>
      </p:sp>
      <p:sp>
        <p:nvSpPr>
          <p:cNvPr id="26" name="stat label 7"/>
          <p:cNvSpPr txBox="1"/>
          <p:nvPr/>
        </p:nvSpPr>
        <p:spPr>
          <a:xfrm>
            <a:off x="8522208" y="579729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體健設施新設/更新</a:t>
            </a:r>
            <a:endParaRPr lang="en-US" sz="1200" dirty="0"/>
          </a:p>
        </p:txBody>
      </p:sp>
      <p:sp>
        <p:nvSpPr>
          <p:cNvPr id="27" name="stat card 8"/>
          <p:cNvSpPr/>
          <p:nvPr/>
        </p:nvSpPr>
        <p:spPr>
          <a:xfrm>
            <a:off x="10104120" y="5157216"/>
            <a:ext cx="15544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28" name="stat value 8"/>
          <p:cNvSpPr txBox="1"/>
          <p:nvPr/>
        </p:nvSpPr>
        <p:spPr>
          <a:xfrm>
            <a:off x="10213848" y="526694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 座</a:t>
            </a:r>
            <a:endParaRPr lang="en-US" sz="2600" dirty="0"/>
          </a:p>
        </p:txBody>
      </p:sp>
      <p:sp>
        <p:nvSpPr>
          <p:cNvPr id="29" name="stat label 8"/>
          <p:cNvSpPr txBox="1"/>
          <p:nvPr/>
        </p:nvSpPr>
        <p:spPr>
          <a:xfrm>
            <a:off x="10213848" y="579729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既有座椅移置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工區二 兒一公園｜完工成果</a:t>
            </a:r>
            <a:endParaRPr lang="en-US" sz="3200" dirty="0"/>
          </a:p>
        </p:txBody>
      </p:sp>
      <p:pic>
        <p:nvPicPr>
          <p:cNvPr id="3" name="aerial photo" descr="/tmp/claude-0/-home-user-WORK/17061699-df28-586b-9ead-2ea441853089/scratchpad/img/photo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3922776"/>
          </a:xfrm>
          <a:prstGeom prst="rect">
            <a:avLst/>
          </a:prstGeom>
        </p:spPr>
      </p:pic>
      <p:sp>
        <p:nvSpPr>
          <p:cNvPr id="4" name="photo caption"/>
          <p:cNvSpPr txBox="1"/>
          <p:nvPr/>
        </p:nvSpPr>
        <p:spPr>
          <a:xfrm>
            <a:off x="548640" y="53949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完工空拍</a:t>
            </a:r>
            <a:endParaRPr lang="en-US" sz="1200" dirty="0"/>
          </a:p>
        </p:txBody>
      </p:sp>
      <p:sp>
        <p:nvSpPr>
          <p:cNvPr id="5" name="works header"/>
          <p:cNvSpPr txBox="1"/>
          <p:nvPr/>
        </p:nvSpPr>
        <p:spPr>
          <a:xfrm>
            <a:off x="7955280" y="1371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主要施作內容</a:t>
            </a:r>
            <a:endParaRPr lang="en-US" sz="2000" dirty="0"/>
          </a:p>
        </p:txBody>
      </p:sp>
      <p:sp>
        <p:nvSpPr>
          <p:cNvPr id="6" name="num circle 1"/>
          <p:cNvSpPr/>
          <p:nvPr/>
        </p:nvSpPr>
        <p:spPr>
          <a:xfrm>
            <a:off x="7955280" y="19659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num 1"/>
          <p:cNvSpPr txBox="1"/>
          <p:nvPr/>
        </p:nvSpPr>
        <p:spPr>
          <a:xfrm>
            <a:off x="7955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work 1"/>
          <p:cNvSpPr txBox="1"/>
          <p:nvPr/>
        </p:nvSpPr>
        <p:spPr>
          <a:xfrm>
            <a:off x="8595360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排水改善</a:t>
            </a:r>
            <a:endParaRPr lang="en-US" sz="1600" dirty="0"/>
          </a:p>
        </p:txBody>
      </p:sp>
      <p:sp>
        <p:nvSpPr>
          <p:cNvPr id="9" name="num circle 2"/>
          <p:cNvSpPr/>
          <p:nvPr/>
        </p:nvSpPr>
        <p:spPr>
          <a:xfrm>
            <a:off x="7955280" y="26791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num 2"/>
          <p:cNvSpPr txBox="1"/>
          <p:nvPr/>
        </p:nvSpPr>
        <p:spPr>
          <a:xfrm>
            <a:off x="795528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work 2"/>
          <p:cNvSpPr txBox="1"/>
          <p:nvPr/>
        </p:nvSpPr>
        <p:spPr>
          <a:xfrm>
            <a:off x="8595360" y="26791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新設休憩廣場</a:t>
            </a:r>
            <a:endParaRPr lang="en-US" sz="1600" dirty="0"/>
          </a:p>
        </p:txBody>
      </p:sp>
      <p:sp>
        <p:nvSpPr>
          <p:cNvPr id="12" name="num circle 3"/>
          <p:cNvSpPr/>
          <p:nvPr/>
        </p:nvSpPr>
        <p:spPr>
          <a:xfrm>
            <a:off x="7955280" y="339242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num 3"/>
          <p:cNvSpPr txBox="1"/>
          <p:nvPr/>
        </p:nvSpPr>
        <p:spPr>
          <a:xfrm>
            <a:off x="7955280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work 3"/>
          <p:cNvSpPr txBox="1"/>
          <p:nvPr/>
        </p:nvSpPr>
        <p:spPr>
          <a:xfrm>
            <a:off x="8595360" y="33924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增設園內人行步道</a:t>
            </a:r>
            <a:endParaRPr lang="en-US" sz="1600" dirty="0"/>
          </a:p>
        </p:txBody>
      </p:sp>
      <p:sp>
        <p:nvSpPr>
          <p:cNvPr id="15" name="num circle 4"/>
          <p:cNvSpPr/>
          <p:nvPr/>
        </p:nvSpPr>
        <p:spPr>
          <a:xfrm>
            <a:off x="7955280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num 4"/>
          <p:cNvSpPr txBox="1"/>
          <p:nvPr/>
        </p:nvSpPr>
        <p:spPr>
          <a:xfrm>
            <a:off x="795528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work 4"/>
          <p:cNvSpPr txBox="1"/>
          <p:nvPr/>
        </p:nvSpPr>
        <p:spPr>
          <a:xfrm>
            <a:off x="8595360" y="410565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既有綠地整地鋪設草皮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工區二 兒一公園｜平面配置與施作數量</a:t>
            </a:r>
            <a:endParaRPr lang="en-US" sz="3200" dirty="0"/>
          </a:p>
        </p:txBody>
      </p:sp>
      <p:sp>
        <p:nvSpPr>
          <p:cNvPr id="3" name="plan frame"/>
          <p:cNvSpPr/>
          <p:nvPr/>
        </p:nvSpPr>
        <p:spPr>
          <a:xfrm>
            <a:off x="548640" y="1371600"/>
            <a:ext cx="7498080" cy="4846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plan drawing" descr="/tmp/claude-0/-home-user-WORK/17061699-df28-586b-9ead-2ea441853089/scratchpad/img/d-2-pl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94560"/>
            <a:ext cx="7315200" cy="3310128"/>
          </a:xfrm>
          <a:prstGeom prst="rect">
            <a:avLst/>
          </a:prstGeom>
        </p:spPr>
      </p:pic>
      <p:sp>
        <p:nvSpPr>
          <p:cNvPr id="5" name="plan caption"/>
          <p:cNvSpPr txBox="1"/>
          <p:nvPr/>
        </p:nvSpPr>
        <p:spPr>
          <a:xfrm>
            <a:off x="68580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平面配置示意圖</a:t>
            </a:r>
            <a:endParaRPr lang="en-US" sz="1200" dirty="0"/>
          </a:p>
        </p:txBody>
      </p:sp>
      <p:sp>
        <p:nvSpPr>
          <p:cNvPr id="6" name="stat card 1"/>
          <p:cNvSpPr/>
          <p:nvPr/>
        </p:nvSpPr>
        <p:spPr>
          <a:xfrm>
            <a:off x="8412480" y="1371600"/>
            <a:ext cx="15544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7" name="stat value 1"/>
          <p:cNvSpPr txBox="1"/>
          <p:nvPr/>
        </p:nvSpPr>
        <p:spPr>
          <a:xfrm>
            <a:off x="8522208" y="148132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114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 m²</a:t>
            </a:r>
            <a:endParaRPr lang="en-US" sz="2600" dirty="0"/>
          </a:p>
        </p:txBody>
      </p:sp>
      <p:sp>
        <p:nvSpPr>
          <p:cNvPr id="8" name="stat label 1"/>
          <p:cNvSpPr txBox="1"/>
          <p:nvPr/>
        </p:nvSpPr>
        <p:spPr>
          <a:xfrm>
            <a:off x="8522208" y="2011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噴花地坪</a:t>
            </a:r>
            <a:endParaRPr lang="en-US" sz="1200" dirty="0"/>
          </a:p>
        </p:txBody>
      </p:sp>
      <p:sp>
        <p:nvSpPr>
          <p:cNvPr id="9" name="stat card 2"/>
          <p:cNvSpPr/>
          <p:nvPr/>
        </p:nvSpPr>
        <p:spPr>
          <a:xfrm>
            <a:off x="10104120" y="1371600"/>
            <a:ext cx="15544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10" name="stat value 2"/>
          <p:cNvSpPr txBox="1"/>
          <p:nvPr/>
        </p:nvSpPr>
        <p:spPr>
          <a:xfrm>
            <a:off x="10213848" y="148132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100.1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 m²</a:t>
            </a:r>
            <a:endParaRPr lang="en-US" sz="2600" dirty="0"/>
          </a:p>
        </p:txBody>
      </p:sp>
      <p:sp>
        <p:nvSpPr>
          <p:cNvPr id="11" name="stat label 2"/>
          <p:cNvSpPr txBox="1"/>
          <p:nvPr/>
        </p:nvSpPr>
        <p:spPr>
          <a:xfrm>
            <a:off x="10213848" y="2011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混凝土地坪</a:t>
            </a:r>
            <a:endParaRPr lang="en-US" sz="1200" dirty="0"/>
          </a:p>
        </p:txBody>
      </p:sp>
      <p:sp>
        <p:nvSpPr>
          <p:cNvPr id="12" name="stat card 3"/>
          <p:cNvSpPr/>
          <p:nvPr/>
        </p:nvSpPr>
        <p:spPr>
          <a:xfrm>
            <a:off x="8412480" y="2633472"/>
            <a:ext cx="15544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13" name="stat value 3"/>
          <p:cNvSpPr txBox="1"/>
          <p:nvPr/>
        </p:nvSpPr>
        <p:spPr>
          <a:xfrm>
            <a:off x="8522208" y="27432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121.9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 m²</a:t>
            </a:r>
            <a:endParaRPr lang="en-US" sz="2600" dirty="0"/>
          </a:p>
        </p:txBody>
      </p:sp>
      <p:sp>
        <p:nvSpPr>
          <p:cNvPr id="14" name="stat label 3"/>
          <p:cNvSpPr txBox="1"/>
          <p:nvPr/>
        </p:nvSpPr>
        <p:spPr>
          <a:xfrm>
            <a:off x="8522208" y="32735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新設草皮</a:t>
            </a:r>
            <a:endParaRPr lang="en-US" sz="1200" dirty="0"/>
          </a:p>
        </p:txBody>
      </p:sp>
      <p:sp>
        <p:nvSpPr>
          <p:cNvPr id="15" name="stat card 4"/>
          <p:cNvSpPr/>
          <p:nvPr/>
        </p:nvSpPr>
        <p:spPr>
          <a:xfrm>
            <a:off x="10104120" y="2633472"/>
            <a:ext cx="15544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16" name="stat value 4"/>
          <p:cNvSpPr txBox="1"/>
          <p:nvPr/>
        </p:nvSpPr>
        <p:spPr>
          <a:xfrm>
            <a:off x="10213848" y="27432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33.9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 m</a:t>
            </a:r>
            <a:endParaRPr lang="en-US" sz="2600" dirty="0"/>
          </a:p>
        </p:txBody>
      </p:sp>
      <p:sp>
        <p:nvSpPr>
          <p:cNvPr id="17" name="stat label 4"/>
          <p:cNvSpPr txBox="1"/>
          <p:nvPr/>
        </p:nvSpPr>
        <p:spPr>
          <a:xfrm>
            <a:off x="10213848" y="32735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新設透水溝</a:t>
            </a:r>
            <a:endParaRPr lang="en-US" sz="1200" dirty="0"/>
          </a:p>
        </p:txBody>
      </p:sp>
      <p:sp>
        <p:nvSpPr>
          <p:cNvPr id="18" name="stat card 5"/>
          <p:cNvSpPr/>
          <p:nvPr/>
        </p:nvSpPr>
        <p:spPr>
          <a:xfrm>
            <a:off x="8412480" y="3895344"/>
            <a:ext cx="15544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19" name="stat value 5"/>
          <p:cNvSpPr txBox="1"/>
          <p:nvPr/>
        </p:nvSpPr>
        <p:spPr>
          <a:xfrm>
            <a:off x="8522208" y="400507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 m</a:t>
            </a:r>
            <a:endParaRPr lang="en-US" sz="2600" dirty="0"/>
          </a:p>
        </p:txBody>
      </p:sp>
      <p:sp>
        <p:nvSpPr>
          <p:cNvPr id="20" name="stat label 5"/>
          <p:cNvSpPr txBox="1"/>
          <p:nvPr/>
        </p:nvSpPr>
        <p:spPr>
          <a:xfrm>
            <a:off x="8522208" y="45354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排水暗溝</a:t>
            </a:r>
            <a:endParaRPr lang="en-US" sz="1200" dirty="0"/>
          </a:p>
        </p:txBody>
      </p:sp>
      <p:sp>
        <p:nvSpPr>
          <p:cNvPr id="21" name="stat card 6"/>
          <p:cNvSpPr/>
          <p:nvPr/>
        </p:nvSpPr>
        <p:spPr>
          <a:xfrm>
            <a:off x="10104120" y="3895344"/>
            <a:ext cx="15544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22" name="stat value 6"/>
          <p:cNvSpPr txBox="1"/>
          <p:nvPr/>
        </p:nvSpPr>
        <p:spPr>
          <a:xfrm>
            <a:off x="10213848" y="400507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 座</a:t>
            </a:r>
            <a:endParaRPr lang="en-US" sz="2600" dirty="0"/>
          </a:p>
        </p:txBody>
      </p:sp>
      <p:sp>
        <p:nvSpPr>
          <p:cNvPr id="23" name="stat label 6"/>
          <p:cNvSpPr txBox="1"/>
          <p:nvPr/>
        </p:nvSpPr>
        <p:spPr>
          <a:xfrm>
            <a:off x="10213848" y="45354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新設陰井</a:t>
            </a:r>
            <a:endParaRPr lang="en-US" sz="1200" dirty="0"/>
          </a:p>
        </p:txBody>
      </p:sp>
      <p:sp>
        <p:nvSpPr>
          <p:cNvPr id="24" name="stat card 7"/>
          <p:cNvSpPr/>
          <p:nvPr/>
        </p:nvSpPr>
        <p:spPr>
          <a:xfrm>
            <a:off x="8412480" y="5157216"/>
            <a:ext cx="15544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25" name="stat value 7"/>
          <p:cNvSpPr txBox="1"/>
          <p:nvPr/>
        </p:nvSpPr>
        <p:spPr>
          <a:xfrm>
            <a:off x="8522208" y="526694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62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 m</a:t>
            </a:r>
            <a:endParaRPr lang="en-US" sz="2600" dirty="0"/>
          </a:p>
        </p:txBody>
      </p:sp>
      <p:sp>
        <p:nvSpPr>
          <p:cNvPr id="26" name="stat label 7"/>
          <p:cNvSpPr txBox="1"/>
          <p:nvPr/>
        </p:nvSpPr>
        <p:spPr>
          <a:xfrm>
            <a:off x="8522208" y="579729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新設木圍籬</a:t>
            </a:r>
            <a:endParaRPr lang="en-US" sz="1200" dirty="0"/>
          </a:p>
        </p:txBody>
      </p:sp>
      <p:sp>
        <p:nvSpPr>
          <p:cNvPr id="27" name="stat card 8"/>
          <p:cNvSpPr/>
          <p:nvPr/>
        </p:nvSpPr>
        <p:spPr>
          <a:xfrm>
            <a:off x="10104120" y="5157216"/>
            <a:ext cx="15544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28" name="stat value 8"/>
          <p:cNvSpPr txBox="1"/>
          <p:nvPr/>
        </p:nvSpPr>
        <p:spPr>
          <a:xfrm>
            <a:off x="10213848" y="526694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 株</a:t>
            </a:r>
            <a:endParaRPr lang="en-US" sz="2600" dirty="0"/>
          </a:p>
        </p:txBody>
      </p:sp>
      <p:sp>
        <p:nvSpPr>
          <p:cNvPr id="29" name="stat label 8"/>
          <p:cNvSpPr txBox="1"/>
          <p:nvPr/>
        </p:nvSpPr>
        <p:spPr>
          <a:xfrm>
            <a:off x="10213848" y="579729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新設喬木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 photo" descr="/tmp/claude-0/-home-user-WORK/17061699-df28-586b-9ead-2ea441853089/scratchpad/img/photo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0" y="0"/>
            <a:ext cx="4507992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完工效益</a:t>
            </a:r>
            <a:endParaRPr lang="en-US" sz="3600" dirty="0"/>
          </a:p>
        </p:txBody>
      </p:sp>
      <p:sp>
        <p:nvSpPr>
          <p:cNvPr id="4" name="benefit 1"/>
          <p:cNvSpPr txBox="1"/>
          <p:nvPr/>
        </p:nvSpPr>
        <p:spPr>
          <a:xfrm>
            <a:off x="640080" y="30632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排水順暢　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新設排水溝、透水管與陰井，改善園內積水</a:t>
            </a:r>
            <a:endParaRPr lang="en-US" sz="1800" dirty="0"/>
          </a:p>
        </p:txBody>
      </p:sp>
      <p:sp>
        <p:nvSpPr>
          <p:cNvPr id="5" name="benefit 2"/>
          <p:cNvSpPr txBox="1"/>
          <p:nvPr/>
        </p:nvSpPr>
        <p:spPr>
          <a:xfrm>
            <a:off x="640080" y="38404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休憩空間　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新設休憩廣場與座椅，提供民眾停留使用</a:t>
            </a:r>
            <a:endParaRPr lang="en-US" sz="1800" dirty="0"/>
          </a:p>
        </p:txBody>
      </p:sp>
      <p:sp>
        <p:nvSpPr>
          <p:cNvPr id="6" name="benefit 3"/>
          <p:cNvSpPr txBox="1"/>
          <p:nvPr/>
        </p:nvSpPr>
        <p:spPr>
          <a:xfrm>
            <a:off x="640080" y="46177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通行友善　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拓寬及增設人行步道，動線更安全平順</a:t>
            </a:r>
            <a:endParaRPr lang="en-US" sz="1800" dirty="0"/>
          </a:p>
        </p:txBody>
      </p:sp>
      <p:sp>
        <p:nvSpPr>
          <p:cNvPr id="7" name="benefit 4"/>
          <p:cNvSpPr txBox="1"/>
          <p:nvPr/>
        </p:nvSpPr>
        <p:spPr>
          <a:xfrm>
            <a:off x="640080" y="53949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綠意運動　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整地鋪設草皮、增設及更新體健設施</a:t>
            </a:r>
            <a:endParaRPr lang="en-US" sz="18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640080" y="402336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k Green">
  <a:themeElements>
    <a:clrScheme name="Park Green">
      <a:dk1>
        <a:srgbClr val="1F2A1F"/>
      </a:dk1>
      <a:lt1>
        <a:srgbClr val="FFFFFF"/>
      </a:lt1>
      <a:dk2>
        <a:srgbClr val="24502A"/>
      </a:dk2>
      <a:lt2>
        <a:srgbClr val="EEF4EA"/>
      </a:lt2>
      <a:accent1>
        <a:srgbClr val="2F6B35"/>
      </a:accent1>
      <a:accent2>
        <a:srgbClr val="8DBB5A"/>
      </a:accent2>
      <a:accent3>
        <a:srgbClr val="D9772B"/>
      </a:accent3>
      <a:accent4>
        <a:srgbClr val="5E7C64"/>
      </a:accent4>
      <a:accent5>
        <a:srgbClr val="B9D49A"/>
      </a:accent5>
      <a:accent6>
        <a:srgbClr val="7A5A3A"/>
      </a:accent6>
      <a:hlink>
        <a:srgbClr val="2F6B35"/>
      </a:hlink>
      <a:folHlink>
        <a:srgbClr val="5E7C64"/>
      </a:folHlink>
    </a:clrScheme>
    <a:fontScheme name="Park Green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115年度蘆洲區公園廣場基礎設施整建工程 完工成果說明</dc:title>
  <dc:subject>PptxGenJS Presentation</dc:subject>
  <dc:creator>新北市蘆洲區公所</dc:creator>
  <cp:lastModifiedBy>新北市蘆洲區公所</cp:lastModifiedBy>
  <cp:revision>1</cp:revision>
  <dcterms:created xsi:type="dcterms:W3CDTF">2026-10-20T08:38:24Z</dcterms:created>
  <dcterms:modified xsi:type="dcterms:W3CDTF">2026-10-20T08:38:24Z</dcterms:modified>
</cp:coreProperties>
</file>